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0" r:id="rId3"/>
    <p:sldId id="261" r:id="rId4"/>
    <p:sldId id="259" r:id="rId5"/>
    <p:sldId id="262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116" d="100"/>
          <a:sy n="116" d="100"/>
        </p:scale>
        <p:origin x="-368" y="928"/>
      </p:cViewPr>
      <p:guideLst>
        <p:guide orient="horz" pos="256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15-09-15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15-09-15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43450" y="310506"/>
              <a:ext cx="1974900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51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5223475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99067" y="316856"/>
              <a:ext cx="20192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How do people move around in your city?</a:t>
            </a:r>
          </a:p>
          <a:p>
            <a:r>
              <a:rPr lang="en-US" dirty="0"/>
              <a:t>Do they drive a car? Take the bus? Take a train?</a:t>
            </a:r>
          </a:p>
          <a:p>
            <a:r>
              <a:rPr lang="en-US" dirty="0"/>
              <a:t>How do you prefer to travel?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describe places in the city.</a:t>
            </a:r>
          </a:p>
          <a:p>
            <a:r>
              <a:rPr lang="en-US" dirty="0"/>
              <a:t>I can ask and say where places are.</a:t>
            </a:r>
          </a:p>
          <a:p>
            <a:r>
              <a:rPr lang="en-US" dirty="0"/>
              <a:t>I can talk about travel and transportation.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It’s time to get the bus home. Let’s buy the tickets!</a:t>
            </a:r>
          </a:p>
        </p:txBody>
      </p:sp>
      <p:pic>
        <p:nvPicPr>
          <p:cNvPr id="8" name="Picture Placeholder 7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14" r="-5514"/>
          <a:stretch>
            <a:fillRect/>
          </a:stretch>
        </p:blipFill>
        <p:spPr>
          <a:xfrm>
            <a:off x="1604131" y="3862552"/>
            <a:ext cx="3874696" cy="2268115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18383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Take the Green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49" r="-10549"/>
          <a:stretch>
            <a:fillRect/>
          </a:stretch>
        </p:blipFill>
        <p:spPr>
          <a:xfrm>
            <a:off x="1560335" y="2085871"/>
            <a:ext cx="3738841" cy="218859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defTabSz="893763">
              <a:tabLst>
                <a:tab pos="361950" algn="l"/>
              </a:tabLst>
            </a:pPr>
            <a:endParaRPr lang="en-CA" b="1" dirty="0" smtClean="0"/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          This is a nice old bus station! We can get our tickets at the counter!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John</a:t>
            </a:r>
            <a:r>
              <a:rPr lang="en-CA" dirty="0" smtClean="0"/>
              <a:t>: 	Two </a:t>
            </a:r>
            <a:r>
              <a:rPr lang="en-CA" dirty="0"/>
              <a:t>tickets to Cambridge, please.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/>
              <a:t>Clerk</a:t>
            </a:r>
            <a:r>
              <a:rPr lang="en-CA" dirty="0"/>
              <a:t>: </a:t>
            </a:r>
            <a:r>
              <a:rPr lang="en-CA" dirty="0" smtClean="0"/>
              <a:t>	That’s </a:t>
            </a:r>
            <a:r>
              <a:rPr lang="en-CA" dirty="0"/>
              <a:t>$14.</a:t>
            </a:r>
          </a:p>
          <a:p>
            <a:pPr defTabSz="893763">
              <a:tabLst>
                <a:tab pos="361950" algn="l"/>
              </a:tabLst>
            </a:pPr>
            <a:endParaRPr lang="en-CA" dirty="0" smtClean="0"/>
          </a:p>
          <a:p>
            <a:pPr defTabSz="893763">
              <a:tabLst>
                <a:tab pos="361950" algn="l"/>
              </a:tabLst>
            </a:pPr>
            <a:endParaRPr lang="en-CA" dirty="0" smtClean="0"/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John</a:t>
            </a:r>
            <a:r>
              <a:rPr lang="en-CA" dirty="0" smtClean="0"/>
              <a:t>: 	Where </a:t>
            </a:r>
            <a:r>
              <a:rPr lang="en-CA" dirty="0"/>
              <a:t>do we catch the bus?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Clerk</a:t>
            </a:r>
            <a:r>
              <a:rPr lang="en-CA" dirty="0"/>
              <a:t>: </a:t>
            </a:r>
            <a:r>
              <a:rPr lang="en-CA" dirty="0" smtClean="0"/>
              <a:t>	Wait </a:t>
            </a:r>
            <a:r>
              <a:rPr lang="en-CA" dirty="0"/>
              <a:t>on platform 12. Take the Green Line. Give your tickets to the </a:t>
            </a:r>
            <a:r>
              <a:rPr lang="en-CA" dirty="0" smtClean="0"/>
              <a:t>			conductor</a:t>
            </a:r>
            <a:r>
              <a:rPr lang="en-CA" dirty="0"/>
              <a:t>.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John</a:t>
            </a:r>
            <a:r>
              <a:rPr lang="en-CA" dirty="0" smtClean="0"/>
              <a:t>: 	When </a:t>
            </a:r>
            <a:r>
              <a:rPr lang="en-CA" dirty="0"/>
              <a:t>does the bus leave?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/>
              <a:t>Clerk</a:t>
            </a:r>
            <a:r>
              <a:rPr lang="en-CA" dirty="0"/>
              <a:t>: </a:t>
            </a:r>
            <a:r>
              <a:rPr lang="en-CA" dirty="0" smtClean="0"/>
              <a:t>	Buses </a:t>
            </a:r>
            <a:r>
              <a:rPr lang="en-CA" dirty="0"/>
              <a:t>leave every hour. Get the next bus at 6 o’clock.</a:t>
            </a:r>
          </a:p>
          <a:p>
            <a:pPr defTabSz="893763">
              <a:tabLst>
                <a:tab pos="361950" algn="l"/>
              </a:tabLst>
            </a:pPr>
            <a:endParaRPr lang="en-CA" dirty="0" smtClean="0"/>
          </a:p>
          <a:p>
            <a:pPr defTabSz="893763">
              <a:tabLst>
                <a:tab pos="361950" algn="l"/>
              </a:tabLst>
            </a:pPr>
            <a:endParaRPr lang="en-CA" dirty="0" smtClean="0"/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John</a:t>
            </a:r>
            <a:r>
              <a:rPr lang="en-CA" dirty="0" smtClean="0"/>
              <a:t>: 	Thanks. The </a:t>
            </a:r>
            <a:r>
              <a:rPr lang="en-CA" dirty="0"/>
              <a:t>bus leaves in 55 minutes.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Ask </a:t>
            </a:r>
            <a:r>
              <a:rPr lang="en-CA" dirty="0"/>
              <a:t>the clerk where to get some food.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John</a:t>
            </a:r>
            <a:r>
              <a:rPr lang="en-CA" dirty="0" smtClean="0"/>
              <a:t>: 	Excuse </a:t>
            </a:r>
            <a:r>
              <a:rPr lang="en-CA" dirty="0"/>
              <a:t>me. Is there a good place to buy food nearby?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Clerk</a:t>
            </a:r>
            <a:r>
              <a:rPr lang="en-CA" dirty="0" smtClean="0"/>
              <a:t>: 	Look </a:t>
            </a:r>
            <a:r>
              <a:rPr lang="en-CA" dirty="0"/>
              <a:t>across the street. There’s a cafe in the large concrete building.</a:t>
            </a:r>
          </a:p>
          <a:p>
            <a:pPr defTabSz="893763">
              <a:tabLst>
                <a:tab pos="361950" algn="l"/>
              </a:tabLst>
            </a:pPr>
            <a:r>
              <a:rPr lang="en-CA" b="1" dirty="0" smtClean="0"/>
              <a:t>John</a:t>
            </a:r>
            <a:r>
              <a:rPr lang="en-CA" dirty="0" smtClean="0"/>
              <a:t>: 	Thanks</a:t>
            </a:r>
            <a:r>
              <a:rPr lang="en-CA" dirty="0"/>
              <a:t>! We have time to get food. We can ride the bus and eat.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CA" dirty="0" smtClean="0"/>
              <a:t>Instructions: Read the dialogue aloud. 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b="1" dirty="0"/>
              <a:t>Is the bus on </a:t>
            </a:r>
            <a:r>
              <a:rPr lang="en-CA" b="1" dirty="0" smtClean="0"/>
              <a:t>time*?</a:t>
            </a:r>
            <a:endParaRPr lang="en-CA" b="1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18383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Take the Green Line</a:t>
            </a:r>
            <a:endParaRPr lang="en-US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1654172" y="4301098"/>
            <a:ext cx="4516628" cy="111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 smtClean="0"/>
              <a:t>*”</a:t>
            </a:r>
            <a:r>
              <a:rPr lang="en-CA" i="1" dirty="0" smtClean="0"/>
              <a:t>On time”</a:t>
            </a:r>
            <a:r>
              <a:rPr lang="en-CA" dirty="0"/>
              <a:t> </a:t>
            </a:r>
            <a:r>
              <a:rPr lang="en-CA" dirty="0" smtClean="0"/>
              <a:t>means on </a:t>
            </a:r>
            <a:r>
              <a:rPr lang="en-CA" dirty="0"/>
              <a:t>schedule; arriving at the correct  time.  </a:t>
            </a:r>
          </a:p>
        </p:txBody>
      </p:sp>
    </p:spTree>
    <p:extLst>
      <p:ext uri="{BB962C8B-B14F-4D97-AF65-F5344CB8AC3E}">
        <p14:creationId xmlns:p14="http://schemas.microsoft.com/office/powerpoint/2010/main" val="1948271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482600" y="2000250"/>
            <a:ext cx="5848350" cy="457052"/>
          </a:xfrm>
        </p:spPr>
        <p:txBody>
          <a:bodyPr/>
          <a:lstStyle/>
          <a:p>
            <a:pPr marL="0" indent="0"/>
            <a:r>
              <a:rPr lang="en-US" dirty="0"/>
              <a:t>Instructions: Complete the sentences. Write the missing word. Use words from the word bank on the right.</a:t>
            </a:r>
          </a:p>
          <a:p>
            <a:endParaRPr lang="en-CA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 the bus station…. but where?</a:t>
            </a:r>
          </a:p>
          <a:p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482600" y="5492749"/>
            <a:ext cx="5848350" cy="550087"/>
          </a:xfrm>
        </p:spPr>
        <p:txBody>
          <a:bodyPr/>
          <a:lstStyle/>
          <a:p>
            <a:pPr marL="0" indent="0"/>
            <a:r>
              <a:rPr lang="en-US" dirty="0"/>
              <a:t>Instructions: Complete the sentences. Write the missing word. Use </a:t>
            </a:r>
            <a:r>
              <a:rPr lang="en-US" b="1" dirty="0" smtClean="0"/>
              <a:t>platform</a:t>
            </a:r>
            <a:r>
              <a:rPr lang="en-US" dirty="0" smtClean="0"/>
              <a:t>, </a:t>
            </a:r>
            <a:r>
              <a:rPr lang="en-US" b="1" dirty="0" smtClean="0"/>
              <a:t>leave</a:t>
            </a:r>
            <a:r>
              <a:rPr lang="en-US" dirty="0" smtClean="0"/>
              <a:t>, </a:t>
            </a:r>
            <a:r>
              <a:rPr lang="en-US" b="1" dirty="0" smtClean="0"/>
              <a:t>at</a:t>
            </a:r>
            <a:r>
              <a:rPr lang="en-US" dirty="0" smtClean="0"/>
              <a:t>, </a:t>
            </a:r>
            <a:r>
              <a:rPr lang="en-US" b="1" dirty="0"/>
              <a:t>G</a:t>
            </a:r>
            <a:r>
              <a:rPr lang="en-US" b="1" dirty="0" smtClean="0"/>
              <a:t>et</a:t>
            </a:r>
            <a:r>
              <a:rPr lang="en-US" dirty="0" smtClean="0"/>
              <a:t>, </a:t>
            </a:r>
            <a:r>
              <a:rPr lang="en-US" b="1" dirty="0" smtClean="0"/>
              <a:t>ride the bus</a:t>
            </a:r>
            <a:r>
              <a:rPr lang="en-US" dirty="0" smtClean="0"/>
              <a:t>, </a:t>
            </a:r>
            <a:r>
              <a:rPr lang="en-US" b="1" dirty="0" smtClean="0"/>
              <a:t>tickets</a:t>
            </a:r>
            <a:r>
              <a:rPr lang="en-US" dirty="0" smtClean="0"/>
              <a:t>.</a:t>
            </a:r>
            <a:endParaRPr lang="en-US" dirty="0"/>
          </a:p>
          <a:p>
            <a:endParaRPr lang="en-CA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What’s in the bus station?</a:t>
            </a:r>
          </a:p>
          <a:p>
            <a:endParaRPr lang="en-CA" dirty="0"/>
          </a:p>
        </p:txBody>
      </p:sp>
      <p:sp>
        <p:nvSpPr>
          <p:cNvPr id="12" name="Title 6"/>
          <p:cNvSpPr>
            <a:spLocks noGrp="1"/>
          </p:cNvSpPr>
          <p:nvPr>
            <p:ph type="title"/>
          </p:nvPr>
        </p:nvSpPr>
        <p:spPr>
          <a:xfrm>
            <a:off x="1518383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Take the Green Line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231612" y="6149711"/>
            <a:ext cx="3429000" cy="12336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Two </a:t>
            </a:r>
            <a:r>
              <a:rPr lang="en-US" sz="1000" dirty="0" smtClean="0"/>
              <a:t>__________ to </a:t>
            </a:r>
            <a:r>
              <a:rPr lang="en-US" sz="1000" dirty="0"/>
              <a:t>Cambridge, please.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When does the bus </a:t>
            </a:r>
            <a:r>
              <a:rPr lang="en-US" sz="1000" dirty="0" smtClean="0"/>
              <a:t>__________?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Wait on </a:t>
            </a:r>
            <a:r>
              <a:rPr lang="en-US" sz="1000" dirty="0" smtClean="0"/>
              <a:t>_____________ 12</a:t>
            </a:r>
            <a:r>
              <a:rPr lang="en-US" sz="1000" dirty="0"/>
              <a:t>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 smtClean="0"/>
              <a:t>_________ the </a:t>
            </a:r>
            <a:r>
              <a:rPr lang="en-US" sz="1000" dirty="0"/>
              <a:t>next </a:t>
            </a:r>
            <a:r>
              <a:rPr lang="en-US" sz="1000"/>
              <a:t>bus </a:t>
            </a:r>
            <a:r>
              <a:rPr lang="en-US" sz="1000" smtClean="0"/>
              <a:t>________ 6 </a:t>
            </a:r>
            <a:r>
              <a:rPr lang="en-US" sz="1000" dirty="0"/>
              <a:t>o’clock.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We can </a:t>
            </a:r>
            <a:r>
              <a:rPr lang="en-US" sz="1000" dirty="0" smtClean="0"/>
              <a:t>____________ and </a:t>
            </a:r>
            <a:r>
              <a:rPr lang="en-US" sz="1000" dirty="0"/>
              <a:t>eat.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360" y="2532420"/>
            <a:ext cx="3429000" cy="14645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 smtClean="0"/>
              <a:t>_________ a </a:t>
            </a:r>
            <a:r>
              <a:rPr lang="en-US" sz="1000" dirty="0"/>
              <a:t>good place to buy food nearby?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There’s a cafe </a:t>
            </a:r>
            <a:r>
              <a:rPr lang="en-US" sz="1000" dirty="0" smtClean="0"/>
              <a:t>______ the </a:t>
            </a:r>
            <a:r>
              <a:rPr lang="en-US" sz="1000" dirty="0"/>
              <a:t>large concrete building there.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Where do we </a:t>
            </a:r>
            <a:r>
              <a:rPr lang="en-US" sz="1000" dirty="0" smtClean="0"/>
              <a:t>__________the </a:t>
            </a:r>
            <a:r>
              <a:rPr lang="en-US" sz="1000" dirty="0"/>
              <a:t>bus?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I can buy the bus tickets </a:t>
            </a:r>
            <a:r>
              <a:rPr lang="en-US" sz="1000" dirty="0" smtClean="0"/>
              <a:t>________________!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Wait for your bus </a:t>
            </a:r>
            <a:r>
              <a:rPr lang="en-US" sz="1000" dirty="0" smtClean="0"/>
              <a:t>_________ platform </a:t>
            </a:r>
            <a:r>
              <a:rPr lang="en-US" sz="1000" dirty="0"/>
              <a:t>10.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9803" y="2485334"/>
            <a:ext cx="1428011" cy="17491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0" dirty="0" smtClean="0"/>
              <a:t>WORD BANK</a:t>
            </a:r>
          </a:p>
          <a:p>
            <a:pPr>
              <a:lnSpc>
                <a:spcPct val="120000"/>
              </a:lnSpc>
            </a:pPr>
            <a:r>
              <a:rPr lang="en-US" sz="1000" dirty="0" smtClean="0"/>
              <a:t>at the counter</a:t>
            </a:r>
          </a:p>
          <a:p>
            <a:pPr>
              <a:lnSpc>
                <a:spcPct val="120000"/>
              </a:lnSpc>
            </a:pPr>
            <a:r>
              <a:rPr lang="en-US" sz="1000" dirty="0" smtClean="0"/>
              <a:t>in</a:t>
            </a:r>
          </a:p>
          <a:p>
            <a:pPr>
              <a:lnSpc>
                <a:spcPct val="120000"/>
              </a:lnSpc>
            </a:pPr>
            <a:r>
              <a:rPr lang="en-US" sz="1000" dirty="0" smtClean="0"/>
              <a:t>into</a:t>
            </a:r>
          </a:p>
          <a:p>
            <a:pPr>
              <a:lnSpc>
                <a:spcPct val="120000"/>
              </a:lnSpc>
            </a:pPr>
            <a:r>
              <a:rPr lang="en-US" sz="1000" dirty="0" smtClean="0"/>
              <a:t>catch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Is </a:t>
            </a:r>
            <a:r>
              <a:rPr lang="en-US" sz="1000" dirty="0" smtClean="0"/>
              <a:t>there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i</a:t>
            </a:r>
            <a:r>
              <a:rPr lang="en-US" sz="1000" dirty="0" smtClean="0"/>
              <a:t>n the counter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o</a:t>
            </a:r>
            <a:r>
              <a:rPr lang="en-US" sz="1000" dirty="0" smtClean="0"/>
              <a:t>n</a:t>
            </a:r>
          </a:p>
          <a:p>
            <a:pPr>
              <a:lnSpc>
                <a:spcPct val="120000"/>
              </a:lnSpc>
            </a:pPr>
            <a:r>
              <a:rPr lang="en-US" sz="1000" dirty="0" smtClean="0"/>
              <a:t>by</a:t>
            </a:r>
            <a:endParaRPr lang="en-US" sz="1000" dirty="0"/>
          </a:p>
        </p:txBody>
      </p:sp>
      <p:sp>
        <p:nvSpPr>
          <p:cNvPr id="7" name="Rectangle 6"/>
          <p:cNvSpPr/>
          <p:nvPr/>
        </p:nvSpPr>
        <p:spPr>
          <a:xfrm>
            <a:off x="1714500" y="4248835"/>
            <a:ext cx="3429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361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654789"/>
            <a:ext cx="2882900" cy="3117335"/>
          </a:xfrm>
        </p:spPr>
        <p:txBody>
          <a:bodyPr/>
          <a:lstStyle/>
          <a:p>
            <a:r>
              <a:rPr lang="en-US" b="1" dirty="0"/>
              <a:t>to catch </a:t>
            </a:r>
            <a:r>
              <a:rPr lang="en-US" dirty="0"/>
              <a:t>(verb</a:t>
            </a:r>
            <a:r>
              <a:rPr lang="en-US" dirty="0" smtClean="0"/>
              <a:t>): to </a:t>
            </a:r>
            <a:r>
              <a:rPr lang="en-US" dirty="0"/>
              <a:t>get 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Where </a:t>
            </a:r>
            <a:r>
              <a:rPr lang="en-US" dirty="0"/>
              <a:t>do we catch the bus?</a:t>
            </a:r>
          </a:p>
          <a:p>
            <a:r>
              <a:rPr lang="en-US" b="1" dirty="0" smtClean="0"/>
              <a:t>ticket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small card that you use to get on the bus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bus ticket is not expensive.</a:t>
            </a:r>
          </a:p>
          <a:p>
            <a:r>
              <a:rPr lang="en-US" b="1" dirty="0" smtClean="0"/>
              <a:t>platform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an </a:t>
            </a:r>
            <a:r>
              <a:rPr lang="en-US" dirty="0"/>
              <a:t>area where a bus or train arrives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Catch </a:t>
            </a:r>
            <a:r>
              <a:rPr lang="en-US" dirty="0"/>
              <a:t>the bus on platform 12.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ride </a:t>
            </a:r>
            <a:r>
              <a:rPr lang="en-US" dirty="0"/>
              <a:t>(noun</a:t>
            </a:r>
            <a:r>
              <a:rPr lang="en-US" dirty="0" smtClean="0"/>
              <a:t>): to </a:t>
            </a:r>
            <a:r>
              <a:rPr lang="en-US" dirty="0"/>
              <a:t>be 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We </a:t>
            </a:r>
            <a:r>
              <a:rPr lang="en-US" dirty="0"/>
              <a:t>ride the bus to school every day.</a:t>
            </a:r>
          </a:p>
          <a:p>
            <a:r>
              <a:rPr lang="en-US" b="1" dirty="0" smtClean="0"/>
              <a:t>have </a:t>
            </a:r>
            <a:r>
              <a:rPr lang="en-US" b="1" dirty="0"/>
              <a:t>time </a:t>
            </a:r>
            <a:r>
              <a:rPr lang="en-US" dirty="0"/>
              <a:t>(expression</a:t>
            </a:r>
            <a:r>
              <a:rPr lang="en-US" dirty="0" smtClean="0"/>
              <a:t>): not </a:t>
            </a:r>
            <a:r>
              <a:rPr lang="en-US" dirty="0"/>
              <a:t>have to hurry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We </a:t>
            </a:r>
            <a:r>
              <a:rPr lang="en-US" dirty="0"/>
              <a:t>have time to go and eat before the movie starts.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654789"/>
            <a:ext cx="2978150" cy="2635221"/>
          </a:xfrm>
        </p:spPr>
        <p:txBody>
          <a:bodyPr/>
          <a:lstStyle/>
          <a:p>
            <a:r>
              <a:rPr lang="en-US" b="1" dirty="0"/>
              <a:t>on time </a:t>
            </a:r>
            <a:r>
              <a:rPr lang="en-US" dirty="0"/>
              <a:t>(expression</a:t>
            </a:r>
            <a:r>
              <a:rPr lang="en-US" dirty="0" smtClean="0"/>
              <a:t>): at </a:t>
            </a:r>
            <a:r>
              <a:rPr lang="en-US" dirty="0"/>
              <a:t>the correct </a:t>
            </a:r>
            <a:r>
              <a:rPr lang="en-US" dirty="0" smtClean="0"/>
              <a:t>time</a:t>
            </a:r>
            <a:br>
              <a:rPr lang="en-US" dirty="0" smtClean="0"/>
            </a:br>
            <a:r>
              <a:rPr lang="en-US" dirty="0" smtClean="0"/>
              <a:t>e.g. This </a:t>
            </a:r>
            <a:r>
              <a:rPr lang="en-US" dirty="0"/>
              <a:t>bus is always on time. It is never late.</a:t>
            </a:r>
          </a:p>
          <a:p>
            <a:r>
              <a:rPr lang="en-US" b="1" dirty="0" smtClean="0"/>
              <a:t>line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bus or train route or </a:t>
            </a:r>
            <a:r>
              <a:rPr lang="en-US" dirty="0" smtClean="0"/>
              <a:t>circuit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Green Line travels from Boston to Cambridge.</a:t>
            </a:r>
          </a:p>
          <a:p>
            <a:r>
              <a:rPr lang="en-US" b="1" dirty="0" smtClean="0"/>
              <a:t>conductor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person who works on a bus or train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bus conductor collects the tickets.</a:t>
            </a:r>
          </a:p>
          <a:p>
            <a:r>
              <a:rPr lang="en-US" b="1" dirty="0" smtClean="0"/>
              <a:t>concrete</a:t>
            </a:r>
            <a:r>
              <a:rPr lang="en-US" dirty="0" smtClean="0"/>
              <a:t> </a:t>
            </a:r>
            <a:r>
              <a:rPr lang="en-US" dirty="0"/>
              <a:t>(noun</a:t>
            </a:r>
            <a:r>
              <a:rPr lang="en-US" dirty="0" smtClean="0"/>
              <a:t>): a grey </a:t>
            </a:r>
            <a:r>
              <a:rPr lang="en-US" dirty="0"/>
              <a:t>building material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station is in that concrete building.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9900" y="2285533"/>
            <a:ext cx="2882900" cy="1394997"/>
          </a:xfrm>
        </p:spPr>
        <p:txBody>
          <a:bodyPr/>
          <a:lstStyle/>
          <a:p>
            <a:r>
              <a:rPr lang="en-US" dirty="0"/>
              <a:t>Research for a bus or train schedule online.</a:t>
            </a:r>
          </a:p>
          <a:p>
            <a:r>
              <a:rPr lang="en-US" dirty="0"/>
              <a:t>Find out where you can go from your city.</a:t>
            </a:r>
          </a:p>
          <a:p>
            <a:r>
              <a:rPr lang="en-US" dirty="0"/>
              <a:t>Find out when the buses leave.</a:t>
            </a:r>
          </a:p>
          <a:p>
            <a:r>
              <a:rPr lang="en-US" dirty="0"/>
              <a:t>Find out how long does the trip take.</a:t>
            </a:r>
          </a:p>
          <a:p>
            <a:r>
              <a:rPr lang="en-US" dirty="0"/>
              <a:t>Complete the table below. </a:t>
            </a:r>
          </a:p>
          <a:p>
            <a:r>
              <a:rPr lang="en-US" dirty="0"/>
              <a:t>Write a sentence about each trip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Let’s go to a station!</a:t>
            </a:r>
          </a:p>
          <a:p>
            <a:r>
              <a:rPr lang="en-US" dirty="0"/>
              <a:t>Look at a bus or train schedule online.</a:t>
            </a:r>
          </a:p>
          <a:p>
            <a:r>
              <a:rPr lang="en-US" dirty="0"/>
              <a:t>Instructions: Complete the following steps. Fill in the Self Assessment.</a:t>
            </a: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374400"/>
              </p:ext>
            </p:extLst>
          </p:nvPr>
        </p:nvGraphicFramePr>
        <p:xfrm>
          <a:off x="580283" y="3776929"/>
          <a:ext cx="2945203" cy="137655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6158"/>
                <a:gridCol w="889093"/>
                <a:gridCol w="560725"/>
                <a:gridCol w="809227"/>
              </a:tblGrid>
              <a:tr h="513975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9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Place</a:t>
                      </a:r>
                      <a:endParaRPr lang="en-US" sz="900" b="1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Time Leaves</a:t>
                      </a:r>
                      <a:endParaRPr lang="en-US" sz="900" b="1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Time to</a:t>
                      </a:r>
                      <a:endParaRPr lang="en-US" sz="900" b="1" dirty="0">
                        <a:effectLst/>
                      </a:endParaRPr>
                    </a:p>
                    <a:p>
                      <a:pPr algn="ctr"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Travel There</a:t>
                      </a:r>
                      <a:endParaRPr lang="en-US" sz="900" b="1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83407">
                <a:tc>
                  <a:txBody>
                    <a:bodyPr/>
                    <a:lstStyle/>
                    <a:p>
                      <a:pPr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Trip 1</a:t>
                      </a:r>
                      <a:endParaRPr lang="en-US" sz="900" b="1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</a:tr>
              <a:tr h="283407">
                <a:tc>
                  <a:txBody>
                    <a:bodyPr/>
                    <a:lstStyle/>
                    <a:p>
                      <a:pPr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Trip 2</a:t>
                      </a:r>
                      <a:endParaRPr lang="en-US" sz="900" b="1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</a:tr>
              <a:tr h="283407">
                <a:tc>
                  <a:txBody>
                    <a:bodyPr/>
                    <a:lstStyle/>
                    <a:p>
                      <a:pPr rtl="0" fontAlgn="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Trip 3</a:t>
                      </a:r>
                      <a:endParaRPr lang="en-US" sz="900" b="1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1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Shape 193"/>
          <p:cNvSpPr/>
          <p:nvPr/>
        </p:nvSpPr>
        <p:spPr>
          <a:xfrm>
            <a:off x="5665960" y="2559213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0" name="Shape 194"/>
          <p:cNvSpPr/>
          <p:nvPr/>
        </p:nvSpPr>
        <p:spPr>
          <a:xfrm>
            <a:off x="6087830" y="2565698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1" name="Shape 200"/>
          <p:cNvSpPr/>
          <p:nvPr/>
        </p:nvSpPr>
        <p:spPr>
          <a:xfrm>
            <a:off x="5675609" y="2957685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1"/>
          <p:cNvSpPr/>
          <p:nvPr/>
        </p:nvSpPr>
        <p:spPr>
          <a:xfrm>
            <a:off x="6094193" y="295570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2"/>
          <p:cNvSpPr/>
          <p:nvPr/>
        </p:nvSpPr>
        <p:spPr>
          <a:xfrm>
            <a:off x="5672325" y="3300138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3"/>
          <p:cNvSpPr/>
          <p:nvPr/>
        </p:nvSpPr>
        <p:spPr>
          <a:xfrm>
            <a:off x="6092794" y="329856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04"/>
          <p:cNvSpPr/>
          <p:nvPr/>
        </p:nvSpPr>
        <p:spPr>
          <a:xfrm>
            <a:off x="5666057" y="3808952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205"/>
          <p:cNvSpPr/>
          <p:nvPr/>
        </p:nvSpPr>
        <p:spPr>
          <a:xfrm>
            <a:off x="6085496" y="380741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Shape 225"/>
          <p:cNvSpPr/>
          <p:nvPr/>
        </p:nvSpPr>
        <p:spPr>
          <a:xfrm>
            <a:off x="3758185" y="2577672"/>
            <a:ext cx="1845963" cy="170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fontAlgn="base"/>
            <a:endParaRPr lang="en-US" sz="1000" dirty="0" smtClean="0"/>
          </a:p>
          <a:p>
            <a:pPr fontAlgn="base"/>
            <a:endParaRPr lang="en-US" sz="1000" dirty="0" smtClean="0"/>
          </a:p>
          <a:p>
            <a:pPr fontAlgn="base"/>
            <a:r>
              <a:rPr lang="en-US" sz="1000" dirty="0" smtClean="0"/>
              <a:t>I </a:t>
            </a:r>
            <a:r>
              <a:rPr lang="en-US" sz="1000" dirty="0"/>
              <a:t>write about 3 places.</a:t>
            </a:r>
          </a:p>
          <a:p>
            <a:pPr fontAlgn="base"/>
            <a:endParaRPr lang="en-US" sz="1000" dirty="0" smtClean="0"/>
          </a:p>
          <a:p>
            <a:pPr fontAlgn="base"/>
            <a:r>
              <a:rPr lang="en-US" sz="1000" dirty="0" smtClean="0"/>
              <a:t>I </a:t>
            </a:r>
            <a:r>
              <a:rPr lang="en-US" sz="1000" dirty="0"/>
              <a:t>use </a:t>
            </a:r>
            <a:r>
              <a:rPr lang="en-US" sz="1000" dirty="0" smtClean="0"/>
              <a:t>words for travel and transportation.</a:t>
            </a:r>
            <a:endParaRPr lang="en-US" sz="1000" dirty="0"/>
          </a:p>
          <a:p>
            <a:pPr fontAlgn="base"/>
            <a:endParaRPr lang="en-US" sz="1000" dirty="0" smtClean="0"/>
          </a:p>
          <a:p>
            <a:pPr fontAlgn="base"/>
            <a:r>
              <a:rPr lang="en-US" sz="1000" dirty="0" smtClean="0"/>
              <a:t>I </a:t>
            </a:r>
            <a:r>
              <a:rPr lang="en-US" sz="1000" dirty="0"/>
              <a:t>write </a:t>
            </a:r>
            <a:r>
              <a:rPr lang="en-US" sz="1000" dirty="0" smtClean="0"/>
              <a:t>complete statements about places to go and state travel times.</a:t>
            </a:r>
            <a:endParaRPr lang="en-US" sz="1000" dirty="0"/>
          </a:p>
        </p:txBody>
      </p:sp>
      <p:sp>
        <p:nvSpPr>
          <p:cNvPr id="18" name="Rounded Rectangle 6"/>
          <p:cNvSpPr/>
          <p:nvPr/>
        </p:nvSpPr>
        <p:spPr>
          <a:xfrm>
            <a:off x="3661225" y="2406284"/>
            <a:ext cx="2842310" cy="2049398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1" name="Title 6"/>
          <p:cNvSpPr>
            <a:spLocks noGrp="1"/>
          </p:cNvSpPr>
          <p:nvPr>
            <p:ph type="title"/>
          </p:nvPr>
        </p:nvSpPr>
        <p:spPr>
          <a:xfrm>
            <a:off x="1518383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Take the Green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39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528290" y="1526554"/>
            <a:ext cx="5226050" cy="412750"/>
          </a:xfrm>
        </p:spPr>
        <p:txBody>
          <a:bodyPr/>
          <a:lstStyle/>
          <a:p>
            <a:r>
              <a:rPr lang="en-US" b="1" dirty="0"/>
              <a:t>Prepositions</a:t>
            </a:r>
          </a:p>
          <a:p>
            <a:r>
              <a:rPr lang="en-US" dirty="0"/>
              <a:t>You use the prepositions </a:t>
            </a:r>
            <a:r>
              <a:rPr lang="en-US" i="1" dirty="0"/>
              <a:t>in</a:t>
            </a:r>
            <a:r>
              <a:rPr lang="en-US" dirty="0"/>
              <a:t>, </a:t>
            </a:r>
            <a:r>
              <a:rPr lang="en-US" i="1" dirty="0"/>
              <a:t>at</a:t>
            </a:r>
            <a:r>
              <a:rPr lang="en-US" dirty="0"/>
              <a:t> and </a:t>
            </a:r>
            <a:r>
              <a:rPr lang="en-US" i="1" dirty="0"/>
              <a:t>on</a:t>
            </a:r>
            <a:r>
              <a:rPr lang="en-US" dirty="0"/>
              <a:t> to talk about where places are.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96159" y="3264965"/>
            <a:ext cx="3726827" cy="807955"/>
          </a:xfrm>
        </p:spPr>
        <p:txBody>
          <a:bodyPr/>
          <a:lstStyle/>
          <a:p>
            <a:r>
              <a:rPr lang="en-US" b="1" dirty="0"/>
              <a:t>Examples </a:t>
            </a:r>
            <a:endParaRPr lang="en-US" b="1" dirty="0" smtClean="0"/>
          </a:p>
          <a:p>
            <a:pPr marL="171450" indent="-171450">
              <a:buFont typeface="Arial"/>
              <a:buChar char="•"/>
            </a:pPr>
            <a:r>
              <a:rPr lang="en-US" i="1" dirty="0" smtClean="0"/>
              <a:t>There’s </a:t>
            </a:r>
            <a:r>
              <a:rPr lang="en-US" i="1" dirty="0"/>
              <a:t>a cafe in that concrete building. 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i="1" dirty="0"/>
              <a:t>Wait on the platform for the bus. 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i="1" dirty="0"/>
              <a:t>Get your ticket at the counter.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682847"/>
              </p:ext>
            </p:extLst>
          </p:nvPr>
        </p:nvGraphicFramePr>
        <p:xfrm>
          <a:off x="1690398" y="2077214"/>
          <a:ext cx="2769080" cy="96840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39298"/>
                <a:gridCol w="1729782"/>
              </a:tblGrid>
              <a:tr h="20088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Preposition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Example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20088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/>
                        <a:t>in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in the building </a:t>
                      </a:r>
                    </a:p>
                  </a:txBody>
                  <a:tcPr anchor="ctr">
                    <a:noFill/>
                  </a:tcPr>
                </a:tc>
              </a:tr>
              <a:tr h="29089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/>
                        <a:t>on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000" dirty="0"/>
                        <a:t>on the platform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on the bus </a:t>
                      </a:r>
                    </a:p>
                  </a:txBody>
                  <a:tcPr anchor="ctr">
                    <a:noFill/>
                  </a:tcPr>
                </a:tc>
              </a:tr>
              <a:tr h="200881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at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000" dirty="0"/>
                        <a:t>at the ticket counter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6073" y="4248101"/>
            <a:ext cx="5853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Taking the Bus</a:t>
            </a:r>
          </a:p>
          <a:p>
            <a:r>
              <a:rPr lang="en-US" sz="1100" dirty="0"/>
              <a:t>You use special words when you take the bus. You use specific nouns and verbs</a:t>
            </a:r>
            <a:r>
              <a:rPr lang="en-US" sz="1100" dirty="0" smtClean="0"/>
              <a:t>.</a:t>
            </a:r>
            <a:endParaRPr lang="en-US" sz="11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70588"/>
              </p:ext>
            </p:extLst>
          </p:nvPr>
        </p:nvGraphicFramePr>
        <p:xfrm>
          <a:off x="2741406" y="4828992"/>
          <a:ext cx="2010020" cy="1493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05010"/>
                <a:gridCol w="1005010"/>
              </a:tblGrid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Nouns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Verbs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bus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ride </a:t>
                      </a:r>
                    </a:p>
                  </a:txBody>
                  <a:tcPr anchor="ctr">
                    <a:noFill/>
                  </a:tcPr>
                </a:tc>
              </a:tr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station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catch </a:t>
                      </a:r>
                    </a:p>
                  </a:txBody>
                  <a:tcPr anchor="ctr">
                    <a:noFill/>
                  </a:tcPr>
                </a:tc>
              </a:tr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ticket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wait for </a:t>
                      </a:r>
                    </a:p>
                  </a:txBody>
                  <a:tcPr anchor="ctr">
                    <a:noFill/>
                  </a:tcPr>
                </a:tc>
              </a:tr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conductor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take </a:t>
                      </a:r>
                    </a:p>
                  </a:txBody>
                  <a:tcPr anchor="ctr">
                    <a:noFill/>
                  </a:tcPr>
                </a:tc>
              </a:tr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platform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get </a:t>
                      </a:r>
                    </a:p>
                  </a:txBody>
                  <a:tcPr anchor="ctr">
                    <a:noFill/>
                  </a:tcPr>
                </a:tc>
              </a:tr>
              <a:tr h="20376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/>
                        <a:t>line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000" dirty="0"/>
                        <a:t>leave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7449" y="6605723"/>
            <a:ext cx="28264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Examples </a:t>
            </a:r>
            <a:endParaRPr lang="en-US" sz="1000" b="1" dirty="0" smtClean="0"/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The </a:t>
            </a:r>
            <a:r>
              <a:rPr lang="en-US" sz="1000" i="1" dirty="0"/>
              <a:t>bus leaves the station every hour.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/>
              <a:t>The bus gets here in 10 minutes.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/>
              <a:t>You catch the bus on platform 12.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/>
              <a:t>Wait for the Green Line here.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/>
              <a:t>Ask the conductor for help.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/>
              <a:t>Buy your tickets over there.</a:t>
            </a:r>
            <a:endParaRPr lang="en-US" sz="1000" dirty="0"/>
          </a:p>
          <a:p>
            <a:pPr marL="171450" indent="-171450">
              <a:buFont typeface="Arial"/>
              <a:buChar char="•"/>
            </a:pPr>
            <a:r>
              <a:rPr lang="en-US" sz="1000" i="1" dirty="0"/>
              <a:t>I take the bus every day</a:t>
            </a:r>
            <a:r>
              <a:rPr lang="en-US" sz="1000" i="1" dirty="0" smtClean="0"/>
              <a:t>.</a:t>
            </a:r>
            <a:endParaRPr lang="en-US" sz="1000" dirty="0"/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1518383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Take the Green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6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</TotalTime>
  <Words>579</Words>
  <Application>Microsoft Macintosh PowerPoint</Application>
  <PresentationFormat>On-screen Show (4:3)</PresentationFormat>
  <Paragraphs>130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Take the Green Line</vt:lpstr>
      <vt:lpstr>Take the Green Line</vt:lpstr>
      <vt:lpstr>Take the Green Line</vt:lpstr>
      <vt:lpstr>Take the Green Line</vt:lpstr>
      <vt:lpstr>Take the Green Line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Rob ford</cp:lastModifiedBy>
  <cp:revision>150</cp:revision>
  <cp:lastPrinted>2015-07-22T16:06:26Z</cp:lastPrinted>
  <dcterms:created xsi:type="dcterms:W3CDTF">2015-07-06T14:08:02Z</dcterms:created>
  <dcterms:modified xsi:type="dcterms:W3CDTF">2015-09-15T15:13:46Z</dcterms:modified>
</cp:coreProperties>
</file>