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1" r:id="rId3"/>
    <p:sldId id="262" r:id="rId4"/>
    <p:sldId id="259" r:id="rId5"/>
    <p:sldId id="260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108" d="100"/>
          <a:sy n="108" d="100"/>
        </p:scale>
        <p:origin x="-616" y="904"/>
      </p:cViewPr>
      <p:guideLst>
        <p:guide orient="horz" pos="256"/>
        <p:guide pos="3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15-09-13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15-09-13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43450" y="310506"/>
              <a:ext cx="1974900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51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99067" y="316856"/>
              <a:ext cx="201928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  <p:sp>
        <p:nvSpPr>
          <p:cNvPr id="18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9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  <p:sldLayoutId id="2147483655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Do you ask for help in new places?</a:t>
            </a:r>
          </a:p>
          <a:p>
            <a:r>
              <a:rPr lang="en-US" dirty="0"/>
              <a:t>Who do you ask?</a:t>
            </a:r>
          </a:p>
          <a:p>
            <a:r>
              <a:rPr lang="en-US" dirty="0"/>
              <a:t>Are the directions usually good? Do you understand them?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</a:t>
            </a:r>
            <a:r>
              <a:rPr lang="en-US" dirty="0" smtClean="0"/>
              <a:t>give directions.</a:t>
            </a:r>
            <a:endParaRPr lang="en-US" dirty="0"/>
          </a:p>
          <a:p>
            <a:r>
              <a:rPr lang="en-US" dirty="0"/>
              <a:t>I can talk about places and attractions in a city.</a:t>
            </a:r>
          </a:p>
          <a:p>
            <a:r>
              <a:rPr lang="en-US" dirty="0"/>
              <a:t>I can ask and say where places are.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Do you get lost in new cities? Who do you ask for help?</a:t>
            </a:r>
          </a:p>
        </p:txBody>
      </p:sp>
      <p:pic>
        <p:nvPicPr>
          <p:cNvPr id="8" name="Picture Placeholder 7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788" r="-31788"/>
          <a:stretch>
            <a:fillRect/>
          </a:stretch>
        </p:blipFill>
        <p:spPr>
          <a:xfrm>
            <a:off x="1490635" y="3814705"/>
            <a:ext cx="4109811" cy="2405743"/>
          </a:xfr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817223" y="221935"/>
            <a:ext cx="2732174" cy="213662"/>
          </a:xfrm>
        </p:spPr>
        <p:txBody>
          <a:bodyPr>
            <a:noAutofit/>
          </a:bodyPr>
          <a:lstStyle/>
          <a:p>
            <a:r>
              <a:rPr lang="en-US" dirty="0" smtClean="0"/>
              <a:t>You Are Going the Wrong Way!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645" r="-83645"/>
          <a:stretch>
            <a:fillRect/>
          </a:stretch>
        </p:blipFill>
        <p:spPr>
          <a:xfrm>
            <a:off x="1243712" y="2031535"/>
            <a:ext cx="4383905" cy="2566188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b="1" dirty="0"/>
              <a:t>Sally</a:t>
            </a:r>
            <a:r>
              <a:rPr lang="en-GB" dirty="0"/>
              <a:t>: </a:t>
            </a:r>
            <a:r>
              <a:rPr lang="en-GB" dirty="0" smtClean="0"/>
              <a:t>	See </a:t>
            </a:r>
            <a:r>
              <a:rPr lang="en-GB" dirty="0"/>
              <a:t>John, asking for help isn’t a bad idea.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I </a:t>
            </a:r>
            <a:r>
              <a:rPr lang="en-GB" dirty="0"/>
              <a:t>guess so. I don’t see Exhibition Place.</a:t>
            </a:r>
          </a:p>
          <a:p>
            <a:r>
              <a:rPr lang="en-GB" b="1" dirty="0"/>
              <a:t>Sally</a:t>
            </a:r>
            <a:r>
              <a:rPr lang="en-GB" dirty="0"/>
              <a:t>: </a:t>
            </a:r>
            <a:r>
              <a:rPr lang="en-GB" dirty="0" smtClean="0"/>
              <a:t>	Sure </a:t>
            </a:r>
            <a:r>
              <a:rPr lang="en-GB" dirty="0"/>
              <a:t>this is it!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No</a:t>
            </a:r>
            <a:r>
              <a:rPr lang="en-GB" dirty="0"/>
              <a:t>, this says Convention Place.</a:t>
            </a:r>
          </a:p>
          <a:p>
            <a:r>
              <a:rPr lang="en-GB" b="1" dirty="0"/>
              <a:t>Sally</a:t>
            </a:r>
            <a:r>
              <a:rPr lang="en-GB" dirty="0"/>
              <a:t>: </a:t>
            </a:r>
            <a:r>
              <a:rPr lang="en-GB" dirty="0" smtClean="0"/>
              <a:t>	Oh</a:t>
            </a:r>
            <a:r>
              <a:rPr lang="en-GB" dirty="0"/>
              <a:t>! Turn here!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No</a:t>
            </a:r>
            <a:r>
              <a:rPr lang="en-GB" dirty="0"/>
              <a:t>, go this way!</a:t>
            </a:r>
          </a:p>
          <a:p>
            <a:r>
              <a:rPr lang="en-GB" b="1" dirty="0"/>
              <a:t>Sally</a:t>
            </a:r>
            <a:r>
              <a:rPr lang="en-GB" dirty="0"/>
              <a:t>: </a:t>
            </a:r>
            <a:r>
              <a:rPr lang="en-GB" dirty="0" smtClean="0"/>
              <a:t>	Ask </a:t>
            </a:r>
            <a:r>
              <a:rPr lang="en-GB" dirty="0"/>
              <a:t>the police officer.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Alright</a:t>
            </a:r>
            <a:r>
              <a:rPr lang="en-GB" dirty="0"/>
              <a:t>. Excuse me officer, we are very lost.</a:t>
            </a:r>
          </a:p>
          <a:p>
            <a:r>
              <a:rPr lang="en-GB" b="1" dirty="0" smtClean="0"/>
              <a:t>Police Officer</a:t>
            </a:r>
            <a:r>
              <a:rPr lang="en-GB" dirty="0" smtClean="0"/>
              <a:t>:	How </a:t>
            </a:r>
            <a:r>
              <a:rPr lang="en-GB" dirty="0"/>
              <a:t>can I help?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We’re </a:t>
            </a:r>
            <a:r>
              <a:rPr lang="en-GB" dirty="0"/>
              <a:t>looking for the county fair at Exhibition Place.</a:t>
            </a:r>
          </a:p>
          <a:p>
            <a:r>
              <a:rPr lang="en-GB" b="1" dirty="0"/>
              <a:t>Police</a:t>
            </a:r>
            <a:r>
              <a:rPr lang="en-GB" dirty="0"/>
              <a:t> </a:t>
            </a:r>
            <a:r>
              <a:rPr lang="en-GB" b="1" dirty="0" smtClean="0"/>
              <a:t>Officer</a:t>
            </a:r>
            <a:r>
              <a:rPr lang="en-GB" dirty="0" smtClean="0"/>
              <a:t>:	You’re </a:t>
            </a:r>
            <a:r>
              <a:rPr lang="en-GB" dirty="0"/>
              <a:t>walking the wrong way.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Again</a:t>
            </a:r>
            <a:r>
              <a:rPr lang="en-GB" dirty="0"/>
              <a:t>!</a:t>
            </a:r>
          </a:p>
          <a:p>
            <a:r>
              <a:rPr lang="en-GB" b="1" dirty="0"/>
              <a:t>Police Officer</a:t>
            </a:r>
            <a:r>
              <a:rPr lang="en-GB" dirty="0"/>
              <a:t>: </a:t>
            </a:r>
            <a:r>
              <a:rPr lang="en-GB" dirty="0" smtClean="0"/>
              <a:t>	You </a:t>
            </a:r>
            <a:r>
              <a:rPr lang="en-GB" dirty="0"/>
              <a:t>have to go back along this street. There is a bank at the </a:t>
            </a:r>
            <a:r>
              <a:rPr lang="en-GB" dirty="0" smtClean="0"/>
              <a:t>	intersection</a:t>
            </a:r>
            <a:r>
              <a:rPr lang="en-GB" dirty="0"/>
              <a:t>. Turn right. Walk straight ahead. You can’t miss it!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Thank </a:t>
            </a:r>
            <a:r>
              <a:rPr lang="en-GB" dirty="0"/>
              <a:t>you.</a:t>
            </a:r>
          </a:p>
          <a:p>
            <a:r>
              <a:rPr lang="en-GB" b="1" dirty="0"/>
              <a:t>Sally</a:t>
            </a:r>
            <a:r>
              <a:rPr lang="en-GB" dirty="0"/>
              <a:t>: </a:t>
            </a:r>
            <a:r>
              <a:rPr lang="en-GB" dirty="0" smtClean="0"/>
              <a:t>	Look</a:t>
            </a:r>
            <a:r>
              <a:rPr lang="en-GB" dirty="0"/>
              <a:t>! It’s there!</a:t>
            </a:r>
          </a:p>
          <a:p>
            <a:r>
              <a:rPr lang="en-GB" b="1" dirty="0"/>
              <a:t>John</a:t>
            </a:r>
            <a:r>
              <a:rPr lang="en-GB" dirty="0"/>
              <a:t>: </a:t>
            </a:r>
            <a:r>
              <a:rPr lang="en-GB" dirty="0" smtClean="0"/>
              <a:t>	Finally</a:t>
            </a:r>
            <a:r>
              <a:rPr lang="en-GB" dirty="0"/>
              <a:t>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 smtClean="0"/>
              <a:t>Instructions: Read the dialogue aloud.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b="1" dirty="0"/>
              <a:t>Sally and John are still </a:t>
            </a:r>
            <a:r>
              <a:rPr lang="en-GB" b="1" dirty="0" smtClean="0"/>
              <a:t>lost*. </a:t>
            </a:r>
            <a:r>
              <a:rPr lang="en-GB" b="1" dirty="0"/>
              <a:t>The need a better map!</a:t>
            </a: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779080" y="1269732"/>
            <a:ext cx="1960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*When </a:t>
            </a:r>
            <a:r>
              <a:rPr lang="en-GB" sz="1000" dirty="0"/>
              <a:t>you are </a:t>
            </a:r>
            <a:r>
              <a:rPr lang="en-GB" sz="1000" dirty="0" smtClean="0"/>
              <a:t>“</a:t>
            </a:r>
            <a:r>
              <a:rPr lang="en-GB" sz="1000" dirty="0"/>
              <a:t>still lost</a:t>
            </a:r>
            <a:r>
              <a:rPr lang="en-GB" sz="1000" dirty="0" smtClean="0"/>
              <a:t>”, </a:t>
            </a:r>
            <a:r>
              <a:rPr lang="en-GB" sz="1000" dirty="0"/>
              <a:t>you continue to be lost.</a:t>
            </a:r>
          </a:p>
        </p:txBody>
      </p:sp>
      <p:sp>
        <p:nvSpPr>
          <p:cNvPr id="9" name="Title 6"/>
          <p:cNvSpPr txBox="1">
            <a:spLocks/>
          </p:cNvSpPr>
          <p:nvPr/>
        </p:nvSpPr>
        <p:spPr>
          <a:xfrm>
            <a:off x="1817223" y="838419"/>
            <a:ext cx="2732174" cy="2136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200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You Are Going the Wrong Way!</a:t>
            </a:r>
            <a:endParaRPr lang="en-US" dirty="0"/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1817223" y="221935"/>
            <a:ext cx="2732174" cy="213662"/>
          </a:xfrm>
        </p:spPr>
        <p:txBody>
          <a:bodyPr>
            <a:noAutofit/>
          </a:bodyPr>
          <a:lstStyle/>
          <a:p>
            <a:r>
              <a:rPr lang="en-US" dirty="0" smtClean="0"/>
              <a:t>You Are Going the Wrong Way!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91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>
          <a:xfrm>
            <a:off x="475808" y="2129290"/>
            <a:ext cx="5848350" cy="228600"/>
          </a:xfrm>
        </p:spPr>
        <p:txBody>
          <a:bodyPr/>
          <a:lstStyle/>
          <a:p>
            <a:r>
              <a:rPr lang="en-US" dirty="0"/>
              <a:t>Instructions: Select all the correct answers.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We use the </a:t>
            </a:r>
            <a:r>
              <a:rPr lang="en-US" dirty="0" smtClean="0"/>
              <a:t>Imperative* </a:t>
            </a:r>
            <a:r>
              <a:rPr lang="en-US" dirty="0"/>
              <a:t>to give directions.</a:t>
            </a:r>
          </a:p>
          <a:p>
            <a:r>
              <a:rPr lang="en-GB" dirty="0" smtClean="0"/>
              <a:t>                </a:t>
            </a:r>
            <a:r>
              <a:rPr lang="en-US" sz="900" dirty="0" smtClean="0"/>
              <a:t>You </a:t>
            </a:r>
            <a:r>
              <a:rPr lang="en-US" sz="900" dirty="0"/>
              <a:t>do not use the subject with </a:t>
            </a:r>
            <a:r>
              <a:rPr lang="en-US" sz="900" dirty="0" smtClean="0"/>
              <a:t>“the </a:t>
            </a:r>
            <a:r>
              <a:rPr lang="en-US" sz="900" dirty="0"/>
              <a:t>Imperative”. The Imperative stresses the verb.</a:t>
            </a: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482600" y="5492750"/>
            <a:ext cx="5848350" cy="504206"/>
          </a:xfrm>
        </p:spPr>
        <p:txBody>
          <a:bodyPr/>
          <a:lstStyle/>
          <a:p>
            <a:r>
              <a:rPr lang="en-US" dirty="0"/>
              <a:t>Instructions: Organize the mystery sentence. Move each word to place it in the correct order. 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 can help you find the bank!</a:t>
            </a:r>
          </a:p>
          <a:p>
            <a:endParaRPr lang="en-GB" dirty="0"/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817223" y="221935"/>
            <a:ext cx="2732174" cy="213662"/>
          </a:xfrm>
        </p:spPr>
        <p:txBody>
          <a:bodyPr>
            <a:noAutofit/>
          </a:bodyPr>
          <a:lstStyle/>
          <a:p>
            <a:r>
              <a:rPr lang="en-US" dirty="0" smtClean="0"/>
              <a:t>You Are Going the Wrong Way!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3472" y="2613258"/>
            <a:ext cx="3807217" cy="1464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Which sentences use the </a:t>
            </a:r>
            <a:r>
              <a:rPr lang="en-US" sz="1000" dirty="0" smtClean="0"/>
              <a:t>Imperative to give directions?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Font typeface="Wingdings" charset="2"/>
              <a:buChar char="q"/>
            </a:pPr>
            <a:r>
              <a:rPr lang="en-US" sz="1000" dirty="0"/>
              <a:t>No, go this way!</a:t>
            </a:r>
          </a:p>
          <a:p>
            <a:pPr marL="171450" indent="-171450">
              <a:lnSpc>
                <a:spcPct val="150000"/>
              </a:lnSpc>
              <a:buFont typeface="Wingdings" charset="2"/>
              <a:buChar char="q"/>
            </a:pPr>
            <a:r>
              <a:rPr lang="en-US" sz="1000" dirty="0"/>
              <a:t>You can’t miss it!</a:t>
            </a:r>
          </a:p>
          <a:p>
            <a:pPr marL="171450" indent="-171450">
              <a:lnSpc>
                <a:spcPct val="150000"/>
              </a:lnSpc>
              <a:buFont typeface="Wingdings" charset="2"/>
              <a:buChar char="q"/>
            </a:pPr>
            <a:r>
              <a:rPr lang="en-US" sz="1000" dirty="0"/>
              <a:t>Walk straight ahead. </a:t>
            </a:r>
          </a:p>
          <a:p>
            <a:pPr marL="171450" indent="-171450">
              <a:lnSpc>
                <a:spcPct val="150000"/>
              </a:lnSpc>
              <a:buFont typeface="Wingdings" charset="2"/>
              <a:buChar char="q"/>
            </a:pPr>
            <a:r>
              <a:rPr lang="en-US" sz="1000" dirty="0"/>
              <a:t>Turn right at the next corner. </a:t>
            </a:r>
          </a:p>
          <a:p>
            <a:pPr marL="171450" indent="-171450">
              <a:lnSpc>
                <a:spcPct val="150000"/>
              </a:lnSpc>
              <a:buFont typeface="Wingdings" charset="2"/>
              <a:buChar char="q"/>
            </a:pPr>
            <a:r>
              <a:rPr lang="en-US" sz="1000" dirty="0"/>
              <a:t>You’re walking the wrong way.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927" y="5979715"/>
            <a:ext cx="5277212" cy="2387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 smtClean="0"/>
              <a:t>? / can / How / help / </a:t>
            </a:r>
            <a:r>
              <a:rPr lang="en-US" sz="1000" dirty="0"/>
              <a:t>I</a:t>
            </a:r>
            <a:r>
              <a:rPr lang="en-US" sz="10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sz="1000" dirty="0" smtClean="0"/>
              <a:t>      ______________________________________________</a:t>
            </a:r>
          </a:p>
          <a:p>
            <a:pPr>
              <a:lnSpc>
                <a:spcPct val="150000"/>
              </a:lnSpc>
            </a:pPr>
            <a:r>
              <a:rPr lang="en-US" sz="1000" dirty="0" smtClean="0"/>
              <a:t>2. </a:t>
            </a:r>
            <a:r>
              <a:rPr lang="en-US" sz="1000" dirty="0"/>
              <a:t>Exhibition </a:t>
            </a:r>
            <a:r>
              <a:rPr lang="en-US" sz="1000" dirty="0" smtClean="0"/>
              <a:t>/ looking / </a:t>
            </a:r>
            <a:r>
              <a:rPr lang="en-US" sz="1000" dirty="0"/>
              <a:t>fair </a:t>
            </a:r>
            <a:r>
              <a:rPr lang="en-US" sz="1000" dirty="0" smtClean="0"/>
              <a:t>/ </a:t>
            </a:r>
            <a:r>
              <a:rPr lang="en-US" sz="1000" dirty="0"/>
              <a:t>Place </a:t>
            </a:r>
            <a:r>
              <a:rPr lang="en-US" sz="1000" dirty="0" smtClean="0"/>
              <a:t>/ We’re / county / the / at /. / for </a:t>
            </a:r>
          </a:p>
          <a:p>
            <a:pPr>
              <a:lnSpc>
                <a:spcPct val="150000"/>
              </a:lnSpc>
            </a:pPr>
            <a:r>
              <a:rPr lang="en-US" sz="1000" dirty="0" smtClean="0"/>
              <a:t>      ______________________________________________</a:t>
            </a:r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000" dirty="0" smtClean="0"/>
              <a:t>3. street / You / back / </a:t>
            </a:r>
            <a:r>
              <a:rPr lang="en-US" sz="1000" dirty="0"/>
              <a:t>to </a:t>
            </a:r>
            <a:r>
              <a:rPr lang="en-US" sz="1000" dirty="0" smtClean="0"/>
              <a:t>/ along/ </a:t>
            </a:r>
            <a:r>
              <a:rPr lang="en-US" sz="1000" dirty="0"/>
              <a:t>have </a:t>
            </a:r>
            <a:r>
              <a:rPr lang="en-US" sz="1000" dirty="0" smtClean="0"/>
              <a:t>/ this /. / </a:t>
            </a:r>
            <a:r>
              <a:rPr lang="en-US" sz="1000" dirty="0"/>
              <a:t>go </a:t>
            </a:r>
            <a:endParaRPr lang="en-US" sz="1000" dirty="0" smtClean="0"/>
          </a:p>
          <a:p>
            <a:pPr>
              <a:lnSpc>
                <a:spcPct val="150000"/>
              </a:lnSpc>
            </a:pPr>
            <a:r>
              <a:rPr lang="en-US" sz="1000" dirty="0" smtClean="0"/>
              <a:t>      </a:t>
            </a:r>
            <a:r>
              <a:rPr lang="en-US" sz="1000" dirty="0"/>
              <a:t>______________________________________________</a:t>
            </a:r>
          </a:p>
          <a:p>
            <a:pPr>
              <a:lnSpc>
                <a:spcPct val="150000"/>
              </a:lnSpc>
            </a:pPr>
            <a:r>
              <a:rPr lang="en-US" sz="1000" dirty="0" smtClean="0"/>
              <a:t>4. is / </a:t>
            </a:r>
            <a:r>
              <a:rPr lang="en-US" sz="1000" dirty="0"/>
              <a:t>intersection </a:t>
            </a:r>
            <a:r>
              <a:rPr lang="en-US" sz="1000" dirty="0" smtClean="0"/>
              <a:t>/ a / </a:t>
            </a:r>
            <a:r>
              <a:rPr lang="en-US" sz="1000" dirty="0"/>
              <a:t>There </a:t>
            </a:r>
            <a:r>
              <a:rPr lang="en-US" sz="1000" dirty="0" smtClean="0"/>
              <a:t>/ the /. /</a:t>
            </a:r>
            <a:r>
              <a:rPr lang="en-US" sz="1000" b="1" dirty="0" smtClean="0"/>
              <a:t> </a:t>
            </a:r>
            <a:r>
              <a:rPr lang="en-US" sz="1000" dirty="0"/>
              <a:t>bank </a:t>
            </a:r>
            <a:r>
              <a:rPr lang="en-US" sz="1000" dirty="0" smtClean="0"/>
              <a:t>/ </a:t>
            </a:r>
            <a:r>
              <a:rPr lang="en-US" sz="1000" dirty="0"/>
              <a:t>at </a:t>
            </a:r>
            <a:endParaRPr lang="en-US" sz="1000" dirty="0" smtClean="0"/>
          </a:p>
          <a:p>
            <a:pPr>
              <a:lnSpc>
                <a:spcPct val="150000"/>
              </a:lnSpc>
            </a:pPr>
            <a:r>
              <a:rPr lang="en-US" sz="1000" dirty="0" smtClean="0"/>
              <a:t>      </a:t>
            </a:r>
            <a:r>
              <a:rPr lang="en-US" sz="1000" dirty="0"/>
              <a:t>______________________________________________</a:t>
            </a:r>
          </a:p>
          <a:p>
            <a:pPr>
              <a:lnSpc>
                <a:spcPct val="150000"/>
              </a:lnSpc>
            </a:pPr>
            <a:r>
              <a:rPr lang="en-US" sz="1000" dirty="0" smtClean="0"/>
              <a:t>5. then / this / to / bank, / </a:t>
            </a:r>
            <a:r>
              <a:rPr lang="en-US" sz="1000" dirty="0"/>
              <a:t>street </a:t>
            </a:r>
            <a:r>
              <a:rPr lang="en-US" sz="1000" dirty="0" smtClean="0"/>
              <a:t>/ turn. /</a:t>
            </a:r>
            <a:r>
              <a:rPr lang="en-US" sz="1000" dirty="0"/>
              <a:t>take </a:t>
            </a:r>
            <a:r>
              <a:rPr lang="en-US" sz="1000" dirty="0" smtClean="0"/>
              <a:t>/ </a:t>
            </a:r>
            <a:r>
              <a:rPr lang="en-US" sz="1000" dirty="0"/>
              <a:t>We </a:t>
            </a:r>
            <a:r>
              <a:rPr lang="en-US" sz="1000" dirty="0" smtClean="0"/>
              <a:t>/ the </a:t>
            </a:r>
            <a:r>
              <a:rPr lang="en-US" sz="1000" smtClean="0"/>
              <a:t>/ we </a:t>
            </a:r>
            <a:endParaRPr lang="en-US" sz="1000" dirty="0" smtClean="0"/>
          </a:p>
          <a:p>
            <a:pPr>
              <a:lnSpc>
                <a:spcPct val="150000"/>
              </a:lnSpc>
            </a:pPr>
            <a:r>
              <a:rPr lang="en-US" sz="1000" dirty="0"/>
              <a:t> </a:t>
            </a:r>
            <a:r>
              <a:rPr lang="en-US" sz="1000" dirty="0" smtClean="0"/>
              <a:t>     ______________________________________________</a:t>
            </a:r>
            <a:endParaRPr 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4856123" y="665573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88205" y="660819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3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3550" y="5537199"/>
            <a:ext cx="2882900" cy="2957951"/>
          </a:xfrm>
        </p:spPr>
        <p:txBody>
          <a:bodyPr/>
          <a:lstStyle/>
          <a:p>
            <a:r>
              <a:rPr lang="en-US" b="1" dirty="0"/>
              <a:t>not a bad idea </a:t>
            </a:r>
            <a:r>
              <a:rPr lang="en-US" dirty="0"/>
              <a:t>(expression</a:t>
            </a:r>
            <a:r>
              <a:rPr lang="en-US" dirty="0" smtClean="0"/>
              <a:t>): it’s </a:t>
            </a:r>
            <a:r>
              <a:rPr lang="en-US" dirty="0"/>
              <a:t>a good plan or thought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Go </a:t>
            </a:r>
            <a:r>
              <a:rPr lang="en-US" dirty="0"/>
              <a:t>to the film festival? That’s not a bad idea!</a:t>
            </a:r>
          </a:p>
          <a:p>
            <a:r>
              <a:rPr lang="en-US" b="1" dirty="0" smtClean="0"/>
              <a:t>I </a:t>
            </a:r>
            <a:r>
              <a:rPr lang="en-US" b="1" dirty="0"/>
              <a:t>guess so </a:t>
            </a:r>
            <a:r>
              <a:rPr lang="en-US" dirty="0"/>
              <a:t>(</a:t>
            </a:r>
            <a:r>
              <a:rPr lang="en-US" dirty="0" smtClean="0"/>
              <a:t>expression): maybe</a:t>
            </a:r>
            <a:r>
              <a:rPr lang="en-US" dirty="0"/>
              <a:t>; I’m not sure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Do </a:t>
            </a:r>
            <a:r>
              <a:rPr lang="en-US" dirty="0"/>
              <a:t>you think this is the right direction? I guess so.</a:t>
            </a:r>
          </a:p>
          <a:p>
            <a:r>
              <a:rPr lang="en-US" b="1" dirty="0" smtClean="0"/>
              <a:t>wrong </a:t>
            </a:r>
            <a:r>
              <a:rPr lang="en-US" b="1" dirty="0"/>
              <a:t>way </a:t>
            </a:r>
            <a:r>
              <a:rPr lang="en-US" dirty="0"/>
              <a:t>(expression</a:t>
            </a:r>
            <a:r>
              <a:rPr lang="en-US" dirty="0" smtClean="0"/>
              <a:t>): not </a:t>
            </a:r>
            <a:r>
              <a:rPr lang="en-US" dirty="0"/>
              <a:t>the correct direction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We </a:t>
            </a:r>
            <a:r>
              <a:rPr lang="en-US" dirty="0"/>
              <a:t>are going the wrong way. The store is in the opposite direction.</a:t>
            </a:r>
          </a:p>
          <a:p>
            <a:r>
              <a:rPr lang="en-US" b="1" dirty="0" smtClean="0"/>
              <a:t>bank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the </a:t>
            </a:r>
            <a:r>
              <a:rPr lang="en-US" dirty="0"/>
              <a:t>building where you put your </a:t>
            </a:r>
            <a:r>
              <a:rPr lang="en-US" dirty="0" smtClean="0"/>
              <a:t>money</a:t>
            </a:r>
            <a:br>
              <a:rPr lang="en-US" dirty="0" smtClean="0"/>
            </a:br>
            <a:r>
              <a:rPr lang="en-US" dirty="0" smtClean="0"/>
              <a:t>e.g. Let’s </a:t>
            </a:r>
            <a:r>
              <a:rPr lang="en-US" dirty="0"/>
              <a:t>go to the bank and get some cash for our trip.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24250" y="5537200"/>
            <a:ext cx="2978150" cy="2834654"/>
          </a:xfrm>
        </p:spPr>
        <p:txBody>
          <a:bodyPr/>
          <a:lstStyle/>
          <a:p>
            <a:r>
              <a:rPr lang="en-US" b="1" dirty="0"/>
              <a:t>police officer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person who enforces the </a:t>
            </a:r>
            <a:r>
              <a:rPr lang="en-US" dirty="0" smtClean="0"/>
              <a:t>law</a:t>
            </a:r>
            <a:br>
              <a:rPr lang="en-US" dirty="0" smtClean="0"/>
            </a:br>
            <a:r>
              <a:rPr lang="en-US" dirty="0" smtClean="0"/>
              <a:t>e.g. Police </a:t>
            </a:r>
            <a:r>
              <a:rPr lang="en-US" dirty="0"/>
              <a:t>officers help stop crime.</a:t>
            </a:r>
          </a:p>
          <a:p>
            <a:r>
              <a:rPr lang="en-US" b="1" dirty="0" smtClean="0"/>
              <a:t>you </a:t>
            </a:r>
            <a:r>
              <a:rPr lang="en-US" b="1" dirty="0"/>
              <a:t>can’t miss it </a:t>
            </a:r>
            <a:r>
              <a:rPr lang="en-US" dirty="0"/>
              <a:t>(expression</a:t>
            </a:r>
            <a:r>
              <a:rPr lang="en-US" dirty="0" smtClean="0"/>
              <a:t>): it </a:t>
            </a:r>
            <a:r>
              <a:rPr lang="en-US" dirty="0"/>
              <a:t>is easy to see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park is on this street. You can’t miss it!</a:t>
            </a:r>
          </a:p>
          <a:p>
            <a:r>
              <a:rPr lang="en-US" b="1" dirty="0" smtClean="0"/>
              <a:t>intersection </a:t>
            </a:r>
            <a:r>
              <a:rPr lang="en-US" dirty="0"/>
              <a:t>(noun</a:t>
            </a:r>
            <a:r>
              <a:rPr lang="en-US" dirty="0" smtClean="0"/>
              <a:t>): the </a:t>
            </a:r>
            <a:r>
              <a:rPr lang="en-US" dirty="0"/>
              <a:t>place where two streets meet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Meet </a:t>
            </a:r>
            <a:r>
              <a:rPr lang="en-US" dirty="0"/>
              <a:t>me at the intersection of Main and Front </a:t>
            </a:r>
            <a:r>
              <a:rPr lang="en-US" dirty="0" smtClean="0"/>
              <a:t>streets.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have to </a:t>
            </a:r>
            <a:r>
              <a:rPr lang="en-US" dirty="0"/>
              <a:t>(verb</a:t>
            </a:r>
            <a:r>
              <a:rPr lang="en-US" dirty="0" smtClean="0"/>
              <a:t>): to </a:t>
            </a:r>
            <a:r>
              <a:rPr lang="en-US" dirty="0"/>
              <a:t>be necessary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We </a:t>
            </a:r>
            <a:r>
              <a:rPr lang="en-US" dirty="0"/>
              <a:t>have to leave before 10 p.m.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9900" y="2555187"/>
            <a:ext cx="2882900" cy="1481238"/>
          </a:xfrm>
        </p:spPr>
        <p:txBody>
          <a:bodyPr/>
          <a:lstStyle/>
          <a:p>
            <a:r>
              <a:rPr lang="en-US" dirty="0"/>
              <a:t>The person asks you about a place in your area</a:t>
            </a:r>
            <a:r>
              <a:rPr lang="en-US" dirty="0" smtClean="0"/>
              <a:t>.</a:t>
            </a:r>
          </a:p>
          <a:p>
            <a:r>
              <a:rPr lang="en-US" dirty="0"/>
              <a:t>You say they are not going in the right direction</a:t>
            </a:r>
            <a:r>
              <a:rPr lang="en-US" dirty="0" smtClean="0"/>
              <a:t>.</a:t>
            </a:r>
          </a:p>
          <a:p>
            <a:r>
              <a:rPr lang="en-US" dirty="0"/>
              <a:t>Tell them where to go</a:t>
            </a:r>
            <a:r>
              <a:rPr lang="en-US" dirty="0" smtClean="0"/>
              <a:t>.</a:t>
            </a:r>
          </a:p>
          <a:p>
            <a:r>
              <a:rPr lang="en-US" dirty="0"/>
              <a:t>Say street names and use prepositions to help the person find their way</a:t>
            </a:r>
            <a:r>
              <a:rPr lang="en-US" dirty="0" smtClean="0"/>
              <a:t>.</a:t>
            </a:r>
          </a:p>
          <a:p>
            <a:r>
              <a:rPr lang="en-US" dirty="0"/>
              <a:t>Practice your dialogue.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69900" y="1555749"/>
            <a:ext cx="5226050" cy="648591"/>
          </a:xfrm>
        </p:spPr>
        <p:txBody>
          <a:bodyPr/>
          <a:lstStyle/>
          <a:p>
            <a:r>
              <a:rPr lang="en-US" i="1" dirty="0"/>
              <a:t>Help a person with directions</a:t>
            </a:r>
            <a:r>
              <a:rPr lang="en-US" i="1" dirty="0" smtClean="0"/>
              <a:t>!</a:t>
            </a:r>
          </a:p>
          <a:p>
            <a:r>
              <a:rPr lang="en-US" dirty="0"/>
              <a:t>You meet a person on the street. Write a short </a:t>
            </a:r>
            <a:r>
              <a:rPr lang="en-US" dirty="0" smtClean="0"/>
              <a:t>dialogue. </a:t>
            </a:r>
            <a:r>
              <a:rPr lang="en-US" i="1" dirty="0" smtClean="0"/>
              <a:t>Complete </a:t>
            </a:r>
            <a:r>
              <a:rPr lang="en-US" i="1" dirty="0"/>
              <a:t>the </a:t>
            </a:r>
            <a:endParaRPr lang="en-US" i="1" dirty="0" smtClean="0"/>
          </a:p>
          <a:p>
            <a:r>
              <a:rPr lang="en-US" i="1" dirty="0" smtClean="0"/>
              <a:t>following </a:t>
            </a:r>
            <a:r>
              <a:rPr lang="en-US" i="1" dirty="0"/>
              <a:t>steps. Fill in the Self Assessment.</a:t>
            </a:r>
            <a:endParaRPr lang="en-US" i="1" dirty="0" smtClean="0"/>
          </a:p>
          <a:p>
            <a:endParaRPr lang="en-US" sz="1000" i="1" dirty="0"/>
          </a:p>
        </p:txBody>
      </p:sp>
      <p:sp>
        <p:nvSpPr>
          <p:cNvPr id="7" name="Shape 193"/>
          <p:cNvSpPr/>
          <p:nvPr/>
        </p:nvSpPr>
        <p:spPr>
          <a:xfrm>
            <a:off x="5642444" y="2422967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Y</a:t>
            </a:r>
            <a:r>
              <a:rPr lang="en-US" sz="1000" b="1" dirty="0" smtClean="0">
                <a:solidFill>
                  <a:srgbClr val="FFFFFF"/>
                </a:solidFill>
              </a:rPr>
              <a:t>es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8" name="Shape 194"/>
          <p:cNvSpPr/>
          <p:nvPr/>
        </p:nvSpPr>
        <p:spPr>
          <a:xfrm>
            <a:off x="6064314" y="2429452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N</a:t>
            </a:r>
            <a:r>
              <a:rPr lang="en-US" sz="1000" b="1" dirty="0" smtClean="0">
                <a:solidFill>
                  <a:srgbClr val="FFFFFF"/>
                </a:solidFill>
              </a:rPr>
              <a:t>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9" name="Shape 200"/>
          <p:cNvSpPr/>
          <p:nvPr/>
        </p:nvSpPr>
        <p:spPr>
          <a:xfrm>
            <a:off x="5652093" y="2733849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Shape 201"/>
          <p:cNvSpPr/>
          <p:nvPr/>
        </p:nvSpPr>
        <p:spPr>
          <a:xfrm>
            <a:off x="6070677" y="2731873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 202"/>
          <p:cNvSpPr/>
          <p:nvPr/>
        </p:nvSpPr>
        <p:spPr>
          <a:xfrm>
            <a:off x="5656108" y="3094649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203"/>
          <p:cNvSpPr/>
          <p:nvPr/>
        </p:nvSpPr>
        <p:spPr>
          <a:xfrm>
            <a:off x="6076577" y="309307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 204"/>
          <p:cNvSpPr/>
          <p:nvPr/>
        </p:nvSpPr>
        <p:spPr>
          <a:xfrm>
            <a:off x="5657139" y="3432540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205"/>
          <p:cNvSpPr/>
          <p:nvPr/>
        </p:nvSpPr>
        <p:spPr>
          <a:xfrm>
            <a:off x="6076578" y="3430999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225"/>
          <p:cNvSpPr/>
          <p:nvPr/>
        </p:nvSpPr>
        <p:spPr>
          <a:xfrm>
            <a:off x="3722912" y="2475484"/>
            <a:ext cx="1777898" cy="1574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685800">
              <a:buSzPct val="100000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Self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Assessment</a:t>
            </a:r>
          </a:p>
          <a:p>
            <a:pPr algn="l" defTabSz="685800">
              <a:lnSpc>
                <a:spcPct val="50000"/>
              </a:lnSpc>
              <a:buSzPct val="100000"/>
            </a:pPr>
            <a:endParaRPr 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Verdana"/>
              <a:cs typeface="Verdana"/>
            </a:endParaRPr>
          </a:p>
          <a:p>
            <a:pPr fontAlgn="base"/>
            <a:r>
              <a:rPr lang="en-US" sz="1100" dirty="0"/>
              <a:t>I use </a:t>
            </a:r>
            <a:r>
              <a:rPr lang="en-US" sz="1100" dirty="0" smtClean="0"/>
              <a:t>use Imperatives to give directions.</a:t>
            </a:r>
          </a:p>
          <a:p>
            <a:pPr fontAlgn="base">
              <a:lnSpc>
                <a:spcPct val="50000"/>
              </a:lnSpc>
            </a:pPr>
            <a:endParaRPr lang="en-US" sz="1100" dirty="0"/>
          </a:p>
          <a:p>
            <a:pPr fontAlgn="base"/>
            <a:r>
              <a:rPr lang="en-US" sz="1100" dirty="0"/>
              <a:t>I use street names</a:t>
            </a:r>
            <a:r>
              <a:rPr lang="en-US" sz="1100" dirty="0" smtClean="0"/>
              <a:t>.</a:t>
            </a:r>
          </a:p>
          <a:p>
            <a:pPr fontAlgn="base">
              <a:lnSpc>
                <a:spcPct val="60000"/>
              </a:lnSpc>
            </a:pPr>
            <a:endParaRPr lang="en-US" sz="1100" dirty="0"/>
          </a:p>
          <a:p>
            <a:pPr fontAlgn="base"/>
            <a:r>
              <a:rPr lang="en-US" sz="1100" dirty="0"/>
              <a:t>I </a:t>
            </a:r>
            <a:r>
              <a:rPr lang="en-US" sz="1100" dirty="0" smtClean="0"/>
              <a:t>say where places are.</a:t>
            </a:r>
          </a:p>
          <a:p>
            <a:pPr fontAlgn="base">
              <a:lnSpc>
                <a:spcPct val="70000"/>
              </a:lnSpc>
            </a:pPr>
            <a:endParaRPr lang="en-US" sz="1100" dirty="0"/>
          </a:p>
          <a:p>
            <a:pPr fontAlgn="base"/>
            <a:r>
              <a:rPr lang="en-US" sz="1100" dirty="0"/>
              <a:t>I write </a:t>
            </a:r>
            <a:r>
              <a:rPr lang="en-US" sz="1100" dirty="0" smtClean="0"/>
              <a:t>20-30 words in my dialogue.</a:t>
            </a:r>
            <a:endParaRPr lang="en-US" sz="1100" dirty="0"/>
          </a:p>
        </p:txBody>
      </p:sp>
      <p:sp>
        <p:nvSpPr>
          <p:cNvPr id="16" name="Rounded Rectangle 6"/>
          <p:cNvSpPr/>
          <p:nvPr/>
        </p:nvSpPr>
        <p:spPr>
          <a:xfrm>
            <a:off x="3578918" y="2406283"/>
            <a:ext cx="2910781" cy="1892667"/>
          </a:xfrm>
          <a:prstGeom prst="roundRect">
            <a:avLst>
              <a:gd name="adj" fmla="val 11375"/>
            </a:avLst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7" name="Shape 204"/>
          <p:cNvSpPr/>
          <p:nvPr/>
        </p:nvSpPr>
        <p:spPr>
          <a:xfrm>
            <a:off x="5656267" y="3778974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 205"/>
          <p:cNvSpPr/>
          <p:nvPr/>
        </p:nvSpPr>
        <p:spPr>
          <a:xfrm>
            <a:off x="6075706" y="3777433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Title 6"/>
          <p:cNvSpPr>
            <a:spLocks noGrp="1"/>
          </p:cNvSpPr>
          <p:nvPr>
            <p:ph type="title"/>
          </p:nvPr>
        </p:nvSpPr>
        <p:spPr>
          <a:xfrm>
            <a:off x="1817223" y="221935"/>
            <a:ext cx="2732174" cy="213662"/>
          </a:xfrm>
        </p:spPr>
        <p:txBody>
          <a:bodyPr>
            <a:noAutofit/>
          </a:bodyPr>
          <a:lstStyle/>
          <a:p>
            <a:r>
              <a:rPr lang="en-US" dirty="0" smtClean="0"/>
              <a:t>You Are Going the Wrong Way!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34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469900" y="1555750"/>
            <a:ext cx="5226050" cy="269035"/>
          </a:xfrm>
        </p:spPr>
        <p:txBody>
          <a:bodyPr/>
          <a:lstStyle/>
          <a:p>
            <a:pPr marL="0" indent="0"/>
            <a:r>
              <a:rPr lang="en-US" b="1" dirty="0"/>
              <a:t>The Imperative to Give </a:t>
            </a:r>
            <a:r>
              <a:rPr lang="en-US" b="1" dirty="0" smtClean="0"/>
              <a:t>Directions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443844" y="1997408"/>
            <a:ext cx="60884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Use the Imperative to give a person directions and to repeat them. You do not use the subject, so the verb is stressed.</a:t>
            </a:r>
          </a:p>
          <a:p>
            <a:endParaRPr lang="en-US" sz="1000" dirty="0"/>
          </a:p>
          <a:p>
            <a:r>
              <a:rPr lang="en-US" sz="1000" b="1" dirty="0" smtClean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Walk </a:t>
            </a:r>
            <a:r>
              <a:rPr lang="en-US" sz="1000" i="1" dirty="0"/>
              <a:t>down this street to Exhibition </a:t>
            </a:r>
            <a:r>
              <a:rPr lang="en-US" sz="1000" i="1" dirty="0" smtClean="0"/>
              <a:t>Place.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Go </a:t>
            </a:r>
            <a:r>
              <a:rPr lang="en-US" sz="1000" i="1" dirty="0"/>
              <a:t>back along this street to the </a:t>
            </a:r>
            <a:r>
              <a:rPr lang="en-US" sz="1000" i="1" dirty="0" smtClean="0"/>
              <a:t>intersection.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Turn </a:t>
            </a:r>
            <a:r>
              <a:rPr lang="en-US" sz="1000" i="1" dirty="0"/>
              <a:t>right at the corner.</a:t>
            </a:r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r>
              <a:rPr lang="en-US" sz="1000" b="1" dirty="0"/>
              <a:t>Giving Directions</a:t>
            </a:r>
          </a:p>
          <a:p>
            <a:endParaRPr lang="en-US" sz="1000" dirty="0"/>
          </a:p>
          <a:p>
            <a:r>
              <a:rPr lang="en-US" sz="1000" dirty="0"/>
              <a:t>You use a preposition or an expression when you give directions.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047427"/>
              </p:ext>
            </p:extLst>
          </p:nvPr>
        </p:nvGraphicFramePr>
        <p:xfrm>
          <a:off x="517818" y="4326921"/>
          <a:ext cx="5375439" cy="14846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2633"/>
                <a:gridCol w="2492806"/>
              </a:tblGrid>
              <a:tr h="296921">
                <a:tc>
                  <a:txBody>
                    <a:bodyPr/>
                    <a:lstStyle/>
                    <a:p>
                      <a:r>
                        <a:rPr lang="en-US" sz="1000" b="1" dirty="0"/>
                        <a:t>Expression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Preposition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296921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straight ahead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to the intersection</a:t>
                      </a:r>
                      <a:endParaRPr lang="en-US" sz="1000" dirty="0"/>
                    </a:p>
                  </a:txBody>
                  <a:tcPr/>
                </a:tc>
              </a:tr>
              <a:tr h="296921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go back along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at the intersection</a:t>
                      </a:r>
                      <a:endParaRPr lang="en-US" sz="1000" dirty="0"/>
                    </a:p>
                  </a:txBody>
                  <a:tcPr/>
                </a:tc>
              </a:tr>
              <a:tr h="296921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the wrong way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along the street</a:t>
                      </a:r>
                      <a:endParaRPr lang="en-US" sz="1000" dirty="0"/>
                    </a:p>
                  </a:txBody>
                  <a:tcPr/>
                </a:tc>
              </a:tr>
              <a:tr h="296921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turn right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2199" y="6016149"/>
            <a:ext cx="60333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Walk </a:t>
            </a:r>
            <a:r>
              <a:rPr lang="en-US" sz="1000" i="1" dirty="0"/>
              <a:t>along Liberty street to the </a:t>
            </a:r>
            <a:r>
              <a:rPr lang="en-US" sz="1000" i="1" dirty="0" smtClean="0"/>
              <a:t>intersection.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The park is at the intersection of Main and Liberty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817223" y="221935"/>
            <a:ext cx="2732174" cy="213662"/>
          </a:xfrm>
        </p:spPr>
        <p:txBody>
          <a:bodyPr>
            <a:noAutofit/>
          </a:bodyPr>
          <a:lstStyle/>
          <a:p>
            <a:r>
              <a:rPr lang="en-US" dirty="0" smtClean="0"/>
              <a:t>You Are Going the Wrong Way!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83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598</Words>
  <Application>Microsoft Macintosh PowerPoint</Application>
  <PresentationFormat>On-screen Show (4:3)</PresentationFormat>
  <Paragraphs>108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You Are Going the Wrong Way!</vt:lpstr>
      <vt:lpstr>You Are Going the Wrong Way!</vt:lpstr>
      <vt:lpstr>You Are Going the Wrong Way!</vt:lpstr>
      <vt:lpstr>You Are Going the Wrong Way!</vt:lpstr>
      <vt:lpstr>You Are Going the Wrong Way!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Rob ford</cp:lastModifiedBy>
  <cp:revision>141</cp:revision>
  <cp:lastPrinted>2015-07-22T15:01:47Z</cp:lastPrinted>
  <dcterms:created xsi:type="dcterms:W3CDTF">2015-07-06T14:08:02Z</dcterms:created>
  <dcterms:modified xsi:type="dcterms:W3CDTF">2015-09-13T20:36:17Z</dcterms:modified>
</cp:coreProperties>
</file>