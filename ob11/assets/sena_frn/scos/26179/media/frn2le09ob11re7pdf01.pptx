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1" r:id="rId3"/>
    <p:sldId id="262" r:id="rId4"/>
    <p:sldId id="259" r:id="rId5"/>
    <p:sldId id="260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143" d="100"/>
          <a:sy n="143" d="100"/>
        </p:scale>
        <p:origin x="-80" y="4024"/>
      </p:cViewPr>
      <p:guideLst>
        <p:guide orient="horz" pos="256"/>
        <p:guide pos="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15-09-15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15-09-15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43450" y="310506"/>
              <a:ext cx="1974900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51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11891" y="316856"/>
              <a:ext cx="2006459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22" hasCustomPrompt="1"/>
          </p:nvPr>
        </p:nvSpPr>
        <p:spPr>
          <a:xfrm>
            <a:off x="469028" y="2000115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99067" y="316856"/>
              <a:ext cx="2019283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  <p:sp>
        <p:nvSpPr>
          <p:cNvPr id="18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Describe places, neighborhoods and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What places do tourists ask about in your city?</a:t>
            </a:r>
          </a:p>
          <a:p>
            <a:r>
              <a:rPr lang="en-US" dirty="0"/>
              <a:t>How can you help them?</a:t>
            </a:r>
          </a:p>
          <a:p>
            <a:r>
              <a:rPr lang="en-US" dirty="0"/>
              <a:t>What do you say?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talk about places and attractions in a city.</a:t>
            </a:r>
          </a:p>
          <a:p>
            <a:r>
              <a:rPr lang="en-US" dirty="0"/>
              <a:t>I can talk about travel and transportation.</a:t>
            </a:r>
          </a:p>
          <a:p>
            <a:r>
              <a:rPr lang="en-US" dirty="0"/>
              <a:t>I can ask and say where places are.</a:t>
            </a:r>
          </a:p>
          <a:p>
            <a:r>
              <a:rPr lang="en-US" dirty="0"/>
              <a:t>I can talk about colors and materials.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dirty="0"/>
              <a:t>I’m new to Cambridge. Can you help me find the city hall?</a:t>
            </a:r>
          </a:p>
        </p:txBody>
      </p:sp>
      <p:pic>
        <p:nvPicPr>
          <p:cNvPr id="8" name="Picture Placeholder 7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46" r="-70946"/>
          <a:stretch>
            <a:fillRect/>
          </a:stretch>
        </p:blipFill>
        <p:spPr>
          <a:xfrm>
            <a:off x="1203674" y="3746500"/>
            <a:ext cx="4351221" cy="2547056"/>
          </a:xfr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3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615" r="-37615"/>
          <a:stretch>
            <a:fillRect/>
          </a:stretch>
        </p:blipFill>
        <p:spPr>
          <a:xfrm>
            <a:off x="1274233" y="2015068"/>
            <a:ext cx="4247562" cy="2486378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76249" y="5048250"/>
            <a:ext cx="6212417" cy="3200400"/>
          </a:xfrm>
        </p:spPr>
        <p:txBody>
          <a:bodyPr/>
          <a:lstStyle/>
          <a:p>
            <a:r>
              <a:rPr lang="en-GB" b="1" dirty="0"/>
              <a:t>John</a:t>
            </a:r>
            <a:r>
              <a:rPr lang="en-GB" dirty="0"/>
              <a:t>:  </a:t>
            </a:r>
            <a:r>
              <a:rPr lang="en-GB" dirty="0" smtClean="0"/>
              <a:t>        It’s </a:t>
            </a:r>
            <a:r>
              <a:rPr lang="en-GB" dirty="0"/>
              <a:t>nice in the park square at night. 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We </a:t>
            </a:r>
            <a:r>
              <a:rPr lang="en-GB" dirty="0"/>
              <a:t>should walk to the pizzeria.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There </a:t>
            </a:r>
            <a:r>
              <a:rPr lang="en-GB" dirty="0"/>
              <a:t>are lots of flowers here.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They’re </a:t>
            </a:r>
            <a:r>
              <a:rPr lang="en-GB" dirty="0" err="1"/>
              <a:t>colorful</a:t>
            </a:r>
            <a:r>
              <a:rPr lang="en-GB" dirty="0"/>
              <a:t>, like the sign on that shop in Boston!</a:t>
            </a:r>
          </a:p>
          <a:p>
            <a:r>
              <a:rPr lang="en-GB" b="1" dirty="0"/>
              <a:t>John</a:t>
            </a:r>
            <a:r>
              <a:rPr lang="en-GB" dirty="0"/>
              <a:t>:  </a:t>
            </a:r>
            <a:r>
              <a:rPr lang="en-GB" dirty="0" smtClean="0"/>
              <a:t>        What </a:t>
            </a:r>
            <a:r>
              <a:rPr lang="en-GB" dirty="0"/>
              <a:t>kind of pizza should we try this time?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Any </a:t>
            </a:r>
            <a:r>
              <a:rPr lang="en-GB" dirty="0"/>
              <a:t>kind is fine.</a:t>
            </a:r>
          </a:p>
          <a:p>
            <a:r>
              <a:rPr lang="en-GB" b="1" dirty="0"/>
              <a:t>Tourist</a:t>
            </a:r>
            <a:r>
              <a:rPr lang="en-GB" dirty="0"/>
              <a:t>:  </a:t>
            </a:r>
            <a:r>
              <a:rPr lang="en-GB" dirty="0" smtClean="0"/>
              <a:t>    Excuse </a:t>
            </a:r>
            <a:r>
              <a:rPr lang="en-GB" dirty="0"/>
              <a:t>me. How do I get to the city hall building?</a:t>
            </a:r>
          </a:p>
          <a:p>
            <a:r>
              <a:rPr lang="en-GB" b="1" dirty="0"/>
              <a:t>John</a:t>
            </a:r>
            <a:r>
              <a:rPr lang="en-GB" dirty="0"/>
              <a:t>:  </a:t>
            </a:r>
            <a:r>
              <a:rPr lang="en-GB" dirty="0" smtClean="0"/>
              <a:t>        Catch </a:t>
            </a:r>
            <a:r>
              <a:rPr lang="en-GB" dirty="0"/>
              <a:t>the green bus line. It stops here on this corner. Get off at </a:t>
            </a:r>
            <a:r>
              <a:rPr lang="en-GB" dirty="0" smtClean="0"/>
              <a:t>King Street</a:t>
            </a:r>
            <a:r>
              <a:rPr lang="en-GB" dirty="0"/>
              <a:t>.</a:t>
            </a:r>
          </a:p>
          <a:p>
            <a:r>
              <a:rPr lang="en-GB" b="1" dirty="0"/>
              <a:t>Tourist</a:t>
            </a:r>
            <a:r>
              <a:rPr lang="en-GB" dirty="0"/>
              <a:t>:  </a:t>
            </a:r>
            <a:r>
              <a:rPr lang="en-GB" dirty="0" smtClean="0"/>
              <a:t>    It’s </a:t>
            </a:r>
            <a:r>
              <a:rPr lang="en-GB" dirty="0"/>
              <a:t>on King Street? 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No</a:t>
            </a:r>
            <a:r>
              <a:rPr lang="en-GB" dirty="0"/>
              <a:t>. Walk down King to the intersection. Then, turn right. It’s next to </a:t>
            </a:r>
            <a:r>
              <a:rPr lang="en-GB" dirty="0" smtClean="0"/>
              <a:t>the red</a:t>
            </a:r>
          </a:p>
          <a:p>
            <a:r>
              <a:rPr lang="en-GB" dirty="0"/>
              <a:t> </a:t>
            </a:r>
            <a:r>
              <a:rPr lang="en-GB" dirty="0" smtClean="0"/>
              <a:t>                  brick </a:t>
            </a:r>
            <a:r>
              <a:rPr lang="en-GB" dirty="0"/>
              <a:t>art gallery.</a:t>
            </a:r>
          </a:p>
          <a:p>
            <a:r>
              <a:rPr lang="en-GB" b="1" dirty="0"/>
              <a:t>Tourist</a:t>
            </a:r>
            <a:r>
              <a:rPr lang="en-GB" dirty="0"/>
              <a:t>:  </a:t>
            </a:r>
            <a:r>
              <a:rPr lang="en-GB" dirty="0" smtClean="0"/>
              <a:t>    Maybe </a:t>
            </a:r>
            <a:r>
              <a:rPr lang="en-GB" dirty="0"/>
              <a:t>I should take a taxi. 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You </a:t>
            </a:r>
            <a:r>
              <a:rPr lang="en-GB" dirty="0"/>
              <a:t>can get a taxi down this way, on Elm Street.</a:t>
            </a:r>
          </a:p>
          <a:p>
            <a:r>
              <a:rPr lang="en-GB" b="1" dirty="0"/>
              <a:t>Tourist</a:t>
            </a:r>
            <a:r>
              <a:rPr lang="en-GB" dirty="0"/>
              <a:t>:  </a:t>
            </a:r>
            <a:r>
              <a:rPr lang="en-GB" dirty="0" smtClean="0"/>
              <a:t>     Thank </a:t>
            </a:r>
            <a:r>
              <a:rPr lang="en-GB" dirty="0"/>
              <a:t>you.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 smtClean="0"/>
              <a:t>Instructions: Read the dialogue aloud. 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b="1" dirty="0"/>
              <a:t>How do I get to the city </a:t>
            </a:r>
            <a:r>
              <a:rPr lang="en-GB" b="1" dirty="0" smtClean="0"/>
              <a:t>hall*?</a:t>
            </a:r>
            <a:endParaRPr lang="en-GB" b="1" dirty="0"/>
          </a:p>
          <a:p>
            <a:endParaRPr lang="en-GB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512410" y="900067"/>
            <a:ext cx="18616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*A “</a:t>
            </a:r>
            <a:r>
              <a:rPr lang="en-GB" sz="1000" dirty="0"/>
              <a:t>city hall</a:t>
            </a:r>
            <a:r>
              <a:rPr lang="en-GB" sz="1000" dirty="0" smtClean="0"/>
              <a:t>” is </a:t>
            </a:r>
            <a:r>
              <a:rPr lang="en-GB" sz="1000" dirty="0"/>
              <a:t>a building for city government.   You use capital letters (City Hall) to talk about one specific city government.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38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CA" dirty="0"/>
              <a:t>Instructions: Draw a line from the first part of the statement on the left to the second part on the right. 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What should John and Sally do?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CA" dirty="0"/>
              <a:t>Instructions: Select all the correct answers.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CA" dirty="0"/>
              <a:t>Is the city hall building next to the park?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81367" y="2588951"/>
            <a:ext cx="5199320" cy="1347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>
                <a:solidFill>
                  <a:srgbClr val="000000"/>
                </a:solidFill>
              </a:rPr>
              <a:t>We should walk </a:t>
            </a:r>
            <a:r>
              <a:rPr lang="en-CA" sz="1100" dirty="0" smtClean="0">
                <a:solidFill>
                  <a:srgbClr val="000000"/>
                </a:solidFill>
              </a:rPr>
              <a:t>                      a) take </a:t>
            </a:r>
            <a:r>
              <a:rPr lang="en-CA" sz="1100" dirty="0">
                <a:solidFill>
                  <a:srgbClr val="000000"/>
                </a:solidFill>
              </a:rPr>
              <a:t>a taxi. </a:t>
            </a:r>
            <a:endParaRPr lang="en-CA" sz="11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>
                <a:solidFill>
                  <a:srgbClr val="000000"/>
                </a:solidFill>
              </a:rPr>
              <a:t>How </a:t>
            </a:r>
            <a:r>
              <a:rPr lang="en-CA" sz="1100" dirty="0" smtClean="0">
                <a:solidFill>
                  <a:srgbClr val="000000"/>
                </a:solidFill>
              </a:rPr>
              <a:t>do                                 </a:t>
            </a:r>
            <a:r>
              <a:rPr lang="en-CA" sz="1100" dirty="0">
                <a:solidFill>
                  <a:srgbClr val="000000"/>
                </a:solidFill>
              </a:rPr>
              <a:t> </a:t>
            </a:r>
            <a:r>
              <a:rPr lang="en-CA" sz="1100" dirty="0" smtClean="0">
                <a:solidFill>
                  <a:srgbClr val="000000"/>
                </a:solidFill>
              </a:rPr>
              <a:t>b) the </a:t>
            </a:r>
            <a:r>
              <a:rPr lang="en-CA" sz="1100" dirty="0">
                <a:solidFill>
                  <a:srgbClr val="000000"/>
                </a:solidFill>
              </a:rPr>
              <a:t>intersection</a:t>
            </a:r>
            <a:r>
              <a:rPr lang="en-CA" sz="1100" dirty="0" smtClean="0">
                <a:solidFill>
                  <a:srgbClr val="000000"/>
                </a:solidFill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 smtClean="0">
                <a:solidFill>
                  <a:srgbClr val="000000"/>
                </a:solidFill>
              </a:rPr>
              <a:t> It’s </a:t>
            </a:r>
            <a:r>
              <a:rPr lang="en-CA" sz="1100" dirty="0">
                <a:solidFill>
                  <a:srgbClr val="000000"/>
                </a:solidFill>
              </a:rPr>
              <a:t>nice in the park          </a:t>
            </a:r>
            <a:r>
              <a:rPr lang="en-CA" sz="1100" dirty="0" smtClean="0">
                <a:solidFill>
                  <a:srgbClr val="000000"/>
                </a:solidFill>
              </a:rPr>
              <a:t>     </a:t>
            </a:r>
            <a:r>
              <a:rPr lang="en-CA" sz="1100" dirty="0" smtClean="0">
                <a:solidFill>
                  <a:srgbClr val="000000"/>
                </a:solidFill>
              </a:rPr>
              <a:t> c</a:t>
            </a:r>
            <a:r>
              <a:rPr lang="en-CA" sz="1100" dirty="0" smtClean="0">
                <a:solidFill>
                  <a:srgbClr val="000000"/>
                </a:solidFill>
              </a:rPr>
              <a:t>)</a:t>
            </a:r>
            <a:r>
              <a:rPr lang="en-CA" sz="1100" dirty="0">
                <a:solidFill>
                  <a:srgbClr val="000000"/>
                </a:solidFill>
              </a:rPr>
              <a:t> square at night. </a:t>
            </a:r>
            <a:endParaRPr lang="en-CA" sz="11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>
                <a:solidFill>
                  <a:srgbClr val="000000"/>
                </a:solidFill>
              </a:rPr>
              <a:t>Walk down King Street </a:t>
            </a:r>
            <a:r>
              <a:rPr lang="en-CA" sz="1100" dirty="0" smtClean="0">
                <a:solidFill>
                  <a:srgbClr val="000000"/>
                </a:solidFill>
              </a:rPr>
              <a:t>to        </a:t>
            </a:r>
            <a:r>
              <a:rPr lang="en-CA" sz="1100" dirty="0" smtClean="0">
                <a:solidFill>
                  <a:srgbClr val="000000"/>
                </a:solidFill>
              </a:rPr>
              <a:t>d</a:t>
            </a:r>
            <a:r>
              <a:rPr lang="en-CA" sz="1100" dirty="0" smtClean="0">
                <a:solidFill>
                  <a:srgbClr val="000000"/>
                </a:solidFill>
              </a:rPr>
              <a:t>) I </a:t>
            </a:r>
            <a:r>
              <a:rPr lang="en-CA" sz="1100" dirty="0">
                <a:solidFill>
                  <a:srgbClr val="000000"/>
                </a:solidFill>
              </a:rPr>
              <a:t>get to the city hall building?</a:t>
            </a:r>
            <a:endParaRPr lang="en-CA" sz="11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 smtClean="0">
                <a:solidFill>
                  <a:srgbClr val="000000"/>
                </a:solidFill>
              </a:rPr>
              <a:t>Maybe </a:t>
            </a:r>
            <a:r>
              <a:rPr lang="en-CA" sz="1100" dirty="0">
                <a:solidFill>
                  <a:srgbClr val="000000"/>
                </a:solidFill>
              </a:rPr>
              <a:t>I </a:t>
            </a:r>
            <a:r>
              <a:rPr lang="en-CA" sz="1100" dirty="0" smtClean="0">
                <a:solidFill>
                  <a:srgbClr val="000000"/>
                </a:solidFill>
              </a:rPr>
              <a:t>should                       e) to </a:t>
            </a:r>
            <a:r>
              <a:rPr lang="en-CA" sz="1100" dirty="0">
                <a:solidFill>
                  <a:srgbClr val="000000"/>
                </a:solidFill>
              </a:rPr>
              <a:t>the pizzeria. </a:t>
            </a:r>
            <a:endParaRPr lang="en-CA" sz="1100" dirty="0"/>
          </a:p>
        </p:txBody>
      </p:sp>
      <p:sp>
        <p:nvSpPr>
          <p:cNvPr id="9" name="Rectangle 8"/>
          <p:cNvSpPr/>
          <p:nvPr/>
        </p:nvSpPr>
        <p:spPr>
          <a:xfrm>
            <a:off x="471224" y="6011064"/>
            <a:ext cx="3429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1100" dirty="0">
                <a:solidFill>
                  <a:srgbClr val="000000"/>
                </a:solidFill>
              </a:rPr>
              <a:t>Which are places in a city?</a:t>
            </a:r>
          </a:p>
          <a:p>
            <a:endParaRPr lang="en-US" sz="1100" dirty="0" smtClean="0"/>
          </a:p>
          <a:p>
            <a:pPr marL="171450" indent="-171450">
              <a:buFont typeface="Wingdings" charset="2"/>
              <a:buChar char="q"/>
            </a:pPr>
            <a:r>
              <a:rPr lang="en-US" sz="1100" dirty="0" smtClean="0"/>
              <a:t>A </a:t>
            </a:r>
            <a:r>
              <a:rPr lang="en-US" sz="1100" dirty="0"/>
              <a:t>flower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An art gallery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city hall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red brick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pizzeria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taxi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square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bus</a:t>
            </a:r>
          </a:p>
        </p:txBody>
      </p:sp>
    </p:spTree>
    <p:extLst>
      <p:ext uri="{BB962C8B-B14F-4D97-AF65-F5344CB8AC3E}">
        <p14:creationId xmlns:p14="http://schemas.microsoft.com/office/powerpoint/2010/main" val="139350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3550" y="5537200"/>
            <a:ext cx="2882900" cy="3895006"/>
          </a:xfrm>
        </p:spPr>
        <p:txBody>
          <a:bodyPr/>
          <a:lstStyle/>
          <a:p>
            <a:r>
              <a:rPr lang="en-US" b="1" dirty="0"/>
              <a:t>city hall </a:t>
            </a:r>
            <a:r>
              <a:rPr lang="en-US" dirty="0"/>
              <a:t>(noun</a:t>
            </a:r>
            <a:r>
              <a:rPr lang="en-US" dirty="0" smtClean="0"/>
              <a:t>): the </a:t>
            </a:r>
            <a:r>
              <a:rPr lang="en-US" dirty="0"/>
              <a:t>building for a city </a:t>
            </a:r>
            <a:r>
              <a:rPr lang="en-US" dirty="0" smtClean="0"/>
              <a:t>government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city hall building is on the next street.</a:t>
            </a:r>
          </a:p>
          <a:p>
            <a:r>
              <a:rPr lang="en-US" b="1" dirty="0" smtClean="0"/>
              <a:t>art </a:t>
            </a:r>
            <a:r>
              <a:rPr lang="en-US" b="1" dirty="0"/>
              <a:t>gallery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building that shows paintings and </a:t>
            </a:r>
            <a:r>
              <a:rPr lang="en-US" dirty="0" smtClean="0"/>
              <a:t>sculpture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art gallery is showing paintings by Picasso.</a:t>
            </a:r>
          </a:p>
          <a:p>
            <a:r>
              <a:rPr lang="en-US" b="1" dirty="0" smtClean="0"/>
              <a:t>intersection </a:t>
            </a:r>
            <a:r>
              <a:rPr lang="en-US" dirty="0"/>
              <a:t>(noun</a:t>
            </a:r>
            <a:r>
              <a:rPr lang="en-US" dirty="0" smtClean="0"/>
              <a:t>): the </a:t>
            </a:r>
            <a:r>
              <a:rPr lang="en-US" dirty="0"/>
              <a:t>place where two streets </a:t>
            </a:r>
            <a:r>
              <a:rPr lang="en-US" dirty="0" smtClean="0"/>
              <a:t>meet</a:t>
            </a:r>
            <a:br>
              <a:rPr lang="en-US" dirty="0" smtClean="0"/>
            </a:br>
            <a:r>
              <a:rPr lang="en-US" dirty="0" smtClean="0"/>
              <a:t>e.g. Meet </a:t>
            </a:r>
            <a:r>
              <a:rPr lang="en-US" dirty="0"/>
              <a:t>me at the intersection of Main and Front streets.</a:t>
            </a:r>
          </a:p>
          <a:p>
            <a:r>
              <a:rPr lang="en-US" b="1" dirty="0" smtClean="0"/>
              <a:t>colorful </a:t>
            </a:r>
            <a:r>
              <a:rPr lang="en-US" dirty="0"/>
              <a:t>(adjective</a:t>
            </a:r>
            <a:r>
              <a:rPr lang="en-US" dirty="0" smtClean="0"/>
              <a:t>): with </a:t>
            </a:r>
            <a:r>
              <a:rPr lang="en-US" dirty="0"/>
              <a:t>lots of </a:t>
            </a:r>
            <a:r>
              <a:rPr lang="en-US" dirty="0" smtClean="0"/>
              <a:t>color</a:t>
            </a:r>
            <a:br>
              <a:rPr lang="en-US" dirty="0" smtClean="0"/>
            </a:br>
            <a:r>
              <a:rPr lang="en-US" dirty="0" smtClean="0"/>
              <a:t>e.g. It’s </a:t>
            </a:r>
            <a:r>
              <a:rPr lang="en-US" dirty="0"/>
              <a:t>a colorful sign with red, orange and yellow letters.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catch </a:t>
            </a:r>
            <a:r>
              <a:rPr lang="en-US" dirty="0"/>
              <a:t>(verb</a:t>
            </a:r>
            <a:r>
              <a:rPr lang="en-US" dirty="0" smtClean="0"/>
              <a:t>): to </a:t>
            </a:r>
            <a:r>
              <a:rPr lang="en-US" dirty="0"/>
              <a:t>use; to </a:t>
            </a:r>
            <a:r>
              <a:rPr lang="en-US" dirty="0" smtClean="0"/>
              <a:t>take</a:t>
            </a:r>
            <a:br>
              <a:rPr lang="en-US" dirty="0" smtClean="0"/>
            </a:br>
            <a:r>
              <a:rPr lang="en-US" dirty="0" smtClean="0"/>
              <a:t>e.g. Where </a:t>
            </a:r>
            <a:r>
              <a:rPr lang="en-US" dirty="0"/>
              <a:t>do we catch the bus?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24250" y="5537200"/>
            <a:ext cx="2978150" cy="3747050"/>
          </a:xfrm>
        </p:spPr>
        <p:txBody>
          <a:bodyPr/>
          <a:lstStyle/>
          <a:p>
            <a:r>
              <a:rPr lang="en-US" b="1" dirty="0"/>
              <a:t>down</a:t>
            </a:r>
            <a:r>
              <a:rPr lang="en-US" dirty="0"/>
              <a:t> (preposition</a:t>
            </a:r>
            <a:r>
              <a:rPr lang="en-US" dirty="0" smtClean="0"/>
              <a:t>): along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bank is down this street.</a:t>
            </a:r>
          </a:p>
          <a:p>
            <a:r>
              <a:rPr lang="en-US" b="1" dirty="0" smtClean="0"/>
              <a:t>brick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hard, heavy, rectangular block used to build walls and </a:t>
            </a:r>
            <a:r>
              <a:rPr lang="en-US" dirty="0" smtClean="0"/>
              <a:t>buildings.</a:t>
            </a:r>
            <a:br>
              <a:rPr lang="en-US" dirty="0" smtClean="0"/>
            </a:br>
            <a:r>
              <a:rPr lang="en-US" dirty="0" smtClean="0"/>
              <a:t>e.g. It’s </a:t>
            </a:r>
            <a:r>
              <a:rPr lang="en-US" dirty="0"/>
              <a:t>a beautiful old red brick house.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get off </a:t>
            </a:r>
            <a:r>
              <a:rPr lang="en-US" dirty="0"/>
              <a:t>(verb</a:t>
            </a:r>
            <a:r>
              <a:rPr lang="en-US" dirty="0" smtClean="0"/>
              <a:t>): leave </a:t>
            </a:r>
            <a:r>
              <a:rPr lang="en-US" dirty="0"/>
              <a:t>a bus or </a:t>
            </a:r>
            <a:r>
              <a:rPr lang="en-US" dirty="0" smtClean="0"/>
              <a:t>train</a:t>
            </a:r>
            <a:br>
              <a:rPr lang="en-US" dirty="0" smtClean="0"/>
            </a:br>
            <a:r>
              <a:rPr lang="en-US" dirty="0" smtClean="0"/>
              <a:t>e.g. Get </a:t>
            </a:r>
            <a:r>
              <a:rPr lang="en-US" dirty="0"/>
              <a:t>off the bus at the next stop.</a:t>
            </a:r>
          </a:p>
          <a:p>
            <a:r>
              <a:rPr lang="en-US" b="1" dirty="0" smtClean="0"/>
              <a:t>square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an </a:t>
            </a:r>
            <a:r>
              <a:rPr lang="en-US" dirty="0"/>
              <a:t>open area in a city with four equal </a:t>
            </a:r>
            <a:r>
              <a:rPr lang="en-US" dirty="0" smtClean="0"/>
              <a:t>sides</a:t>
            </a:r>
            <a:br>
              <a:rPr lang="en-US" dirty="0" smtClean="0"/>
            </a:br>
            <a:r>
              <a:rPr lang="en-US" dirty="0" smtClean="0"/>
              <a:t>e.g. They </a:t>
            </a:r>
            <a:r>
              <a:rPr lang="en-US" dirty="0"/>
              <a:t>sit in the square in the evening and watch people walk by.</a:t>
            </a:r>
          </a:p>
          <a:p>
            <a:r>
              <a:rPr lang="en-US" b="1" dirty="0" smtClean="0"/>
              <a:t>pizzeria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restaurant that makes </a:t>
            </a:r>
            <a:r>
              <a:rPr lang="en-US" dirty="0" smtClean="0"/>
              <a:t>pizza</a:t>
            </a:r>
            <a:br>
              <a:rPr lang="en-US" dirty="0" smtClean="0"/>
            </a:br>
            <a:r>
              <a:rPr lang="en-US" dirty="0" smtClean="0"/>
              <a:t>e.g. That </a:t>
            </a:r>
            <a:r>
              <a:rPr lang="en-US" dirty="0"/>
              <a:t>pizzeria makes real </a:t>
            </a:r>
            <a:r>
              <a:rPr lang="en-US" dirty="0" smtClean="0"/>
              <a:t>Italian </a:t>
            </a:r>
            <a:r>
              <a:rPr lang="en-US" dirty="0"/>
              <a:t>style pizza!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9900" y="2080830"/>
            <a:ext cx="2882900" cy="1433120"/>
          </a:xfrm>
        </p:spPr>
        <p:txBody>
          <a:bodyPr/>
          <a:lstStyle/>
          <a:p>
            <a:r>
              <a:rPr lang="en-US" dirty="0"/>
              <a:t>Look at the chart.</a:t>
            </a:r>
          </a:p>
          <a:p>
            <a:r>
              <a:rPr lang="en-US" dirty="0"/>
              <a:t>Choose 3 buildings in your city.</a:t>
            </a:r>
          </a:p>
          <a:p>
            <a:r>
              <a:rPr lang="en-US" dirty="0"/>
              <a:t>Look online or go to the building.</a:t>
            </a:r>
          </a:p>
          <a:p>
            <a:r>
              <a:rPr lang="en-US" dirty="0"/>
              <a:t>Write the colors and the material the building is made of.</a:t>
            </a:r>
          </a:p>
          <a:p>
            <a:r>
              <a:rPr lang="en-US" dirty="0"/>
              <a:t>Look up new words in English.</a:t>
            </a:r>
          </a:p>
          <a:p>
            <a:r>
              <a:rPr lang="en-US" dirty="0"/>
              <a:t>Write 2 sentences about each building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69899" y="1555750"/>
            <a:ext cx="5611923" cy="412750"/>
          </a:xfrm>
        </p:spPr>
        <p:txBody>
          <a:bodyPr/>
          <a:lstStyle/>
          <a:p>
            <a:r>
              <a:rPr lang="en-US" dirty="0"/>
              <a:t>Let’s talk about buildings. Talk about buildings in your city. Click </a:t>
            </a:r>
            <a:r>
              <a:rPr lang="en-US" dirty="0" smtClean="0"/>
              <a:t>on the </a:t>
            </a:r>
            <a:endParaRPr lang="en-US" dirty="0"/>
          </a:p>
          <a:p>
            <a:r>
              <a:rPr lang="en-US" dirty="0"/>
              <a:t>play button to listen to the audio.</a:t>
            </a:r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516800"/>
              </p:ext>
            </p:extLst>
          </p:nvPr>
        </p:nvGraphicFramePr>
        <p:xfrm>
          <a:off x="569862" y="3524202"/>
          <a:ext cx="3177805" cy="121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3040"/>
                <a:gridCol w="1021812"/>
                <a:gridCol w="1342953"/>
              </a:tblGrid>
              <a:tr h="4243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Building Name</a:t>
                      </a:r>
                      <a:endParaRPr lang="en-US" sz="1000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Color(s)</a:t>
                      </a:r>
                      <a:endParaRPr lang="en-US" sz="100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Material(s)</a:t>
                      </a:r>
                      <a:endParaRPr lang="en-US" sz="1000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</a:tr>
              <a:tr h="24693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24599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19175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hape 193"/>
          <p:cNvSpPr/>
          <p:nvPr/>
        </p:nvSpPr>
        <p:spPr>
          <a:xfrm>
            <a:off x="5950669" y="2488659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Y</a:t>
            </a:r>
            <a:r>
              <a:rPr lang="en-US" sz="1000" b="1" dirty="0" smtClean="0">
                <a:solidFill>
                  <a:srgbClr val="FFFFFF"/>
                </a:solidFill>
              </a:rPr>
              <a:t>es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0" name="Shape 194"/>
          <p:cNvSpPr/>
          <p:nvPr/>
        </p:nvSpPr>
        <p:spPr>
          <a:xfrm>
            <a:off x="6372539" y="2495144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N</a:t>
            </a:r>
            <a:r>
              <a:rPr lang="en-US" sz="1000" b="1" dirty="0" smtClean="0">
                <a:solidFill>
                  <a:srgbClr val="FFFFFF"/>
                </a:solidFill>
              </a:rPr>
              <a:t>o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1" name="Shape 200"/>
          <p:cNvSpPr/>
          <p:nvPr/>
        </p:nvSpPr>
        <p:spPr>
          <a:xfrm>
            <a:off x="5960318" y="2887131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 201"/>
          <p:cNvSpPr/>
          <p:nvPr/>
        </p:nvSpPr>
        <p:spPr>
          <a:xfrm>
            <a:off x="6378902" y="2885155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 202"/>
          <p:cNvSpPr/>
          <p:nvPr/>
        </p:nvSpPr>
        <p:spPr>
          <a:xfrm>
            <a:off x="5957034" y="3229584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203"/>
          <p:cNvSpPr/>
          <p:nvPr/>
        </p:nvSpPr>
        <p:spPr>
          <a:xfrm>
            <a:off x="6377503" y="3228006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204"/>
          <p:cNvSpPr/>
          <p:nvPr/>
        </p:nvSpPr>
        <p:spPr>
          <a:xfrm>
            <a:off x="5958065" y="3597161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Shape 205"/>
          <p:cNvSpPr/>
          <p:nvPr/>
        </p:nvSpPr>
        <p:spPr>
          <a:xfrm>
            <a:off x="6377504" y="3595620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Shape 204"/>
          <p:cNvSpPr/>
          <p:nvPr/>
        </p:nvSpPr>
        <p:spPr>
          <a:xfrm>
            <a:off x="5964492" y="3939338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Shape 205"/>
          <p:cNvSpPr/>
          <p:nvPr/>
        </p:nvSpPr>
        <p:spPr>
          <a:xfrm>
            <a:off x="6383931" y="3937797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Rounded Rectangle 6"/>
          <p:cNvSpPr/>
          <p:nvPr/>
        </p:nvSpPr>
        <p:spPr>
          <a:xfrm>
            <a:off x="3825498" y="2406283"/>
            <a:ext cx="2968118" cy="2105216"/>
          </a:xfrm>
          <a:prstGeom prst="roundRect">
            <a:avLst>
              <a:gd name="adj" fmla="val 11375"/>
            </a:avLst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0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  <p:sp>
        <p:nvSpPr>
          <p:cNvPr id="21" name="Shape 225"/>
          <p:cNvSpPr/>
          <p:nvPr/>
        </p:nvSpPr>
        <p:spPr>
          <a:xfrm>
            <a:off x="4038436" y="2572553"/>
            <a:ext cx="1777898" cy="1726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685800">
              <a:buSzPct val="100000"/>
            </a:pP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Self </a:t>
            </a: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Assessment</a:t>
            </a:r>
          </a:p>
          <a:p>
            <a:pPr algn="l" defTabSz="685800">
              <a:lnSpc>
                <a:spcPct val="120000"/>
              </a:lnSpc>
              <a:buSzPct val="100000"/>
            </a:pPr>
            <a:endParaRPr lang="en-US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Verdana"/>
              <a:cs typeface="Verdana"/>
            </a:endParaRPr>
          </a:p>
          <a:p>
            <a:pPr fontAlgn="base"/>
            <a:r>
              <a:rPr lang="en-US" sz="1000" dirty="0"/>
              <a:t>I write about 3 buildings</a:t>
            </a:r>
            <a:r>
              <a:rPr lang="en-US" sz="1000" dirty="0" smtClean="0"/>
              <a:t>.</a:t>
            </a:r>
          </a:p>
          <a:p>
            <a:pPr fontAlgn="base"/>
            <a:endParaRPr lang="en-US" sz="800" dirty="0"/>
          </a:p>
          <a:p>
            <a:pPr fontAlgn="base"/>
            <a:r>
              <a:rPr lang="en-US" sz="1000" dirty="0"/>
              <a:t>I </a:t>
            </a:r>
            <a:r>
              <a:rPr lang="en-US" sz="1000" dirty="0" smtClean="0"/>
              <a:t>describe a building’s color and material.</a:t>
            </a:r>
          </a:p>
          <a:p>
            <a:pPr fontAlgn="base"/>
            <a:endParaRPr lang="en-US" sz="1000" dirty="0"/>
          </a:p>
          <a:p>
            <a:pPr fontAlgn="base"/>
            <a:r>
              <a:rPr lang="en-US" sz="1000" dirty="0"/>
              <a:t>I </a:t>
            </a:r>
            <a:r>
              <a:rPr lang="en-US" sz="1000" dirty="0" smtClean="0"/>
              <a:t>describe materials.</a:t>
            </a:r>
          </a:p>
          <a:p>
            <a:pPr fontAlgn="base"/>
            <a:endParaRPr lang="en-US" sz="1000" dirty="0"/>
          </a:p>
          <a:p>
            <a:pPr fontAlgn="base"/>
            <a:r>
              <a:rPr lang="en-US" sz="1000" dirty="0"/>
              <a:t>I </a:t>
            </a:r>
            <a:r>
              <a:rPr lang="en-US" sz="1000" dirty="0" smtClean="0"/>
              <a:t>describe the color of things.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9741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513693" y="1482759"/>
            <a:ext cx="5226050" cy="239839"/>
          </a:xfrm>
        </p:spPr>
        <p:txBody>
          <a:bodyPr/>
          <a:lstStyle/>
          <a:p>
            <a:r>
              <a:rPr lang="en-US" b="1" dirty="0"/>
              <a:t>Prepositions of Place and Expressions of </a:t>
            </a:r>
            <a:r>
              <a:rPr lang="en-US" b="1" dirty="0" smtClean="0"/>
              <a:t>Place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13691" y="1761343"/>
            <a:ext cx="5836139" cy="428399"/>
          </a:xfrm>
        </p:spPr>
        <p:txBody>
          <a:bodyPr/>
          <a:lstStyle/>
          <a:p>
            <a:r>
              <a:rPr lang="en-US" dirty="0"/>
              <a:t>You use prepositions of place to say where you are or where you want to go.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help you say the place more clearly.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258593"/>
              </p:ext>
            </p:extLst>
          </p:nvPr>
        </p:nvGraphicFramePr>
        <p:xfrm>
          <a:off x="586030" y="2356063"/>
          <a:ext cx="5732337" cy="174277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79403"/>
                <a:gridCol w="1554614"/>
                <a:gridCol w="2598320"/>
              </a:tblGrid>
              <a:tr h="28626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Preposition/ Expression of Place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Meaning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Examples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399577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on the corner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where 2 streets meet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The museum is on the corner of Liberty and Main Streets.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14698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along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forward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Walk along Main Street.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90601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/>
                        <a:t>at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a specific place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He’s at Paul Revere’s house.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90601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/>
                        <a:t>by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near; beside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There are restaurants by the harbor.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14698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/>
                        <a:t>toward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in the direction of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Walk toward the water.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606" y="4321092"/>
            <a:ext cx="451840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Travel and Transportation</a:t>
            </a:r>
          </a:p>
          <a:p>
            <a:endParaRPr lang="en-US" sz="800" dirty="0" smtClean="0"/>
          </a:p>
          <a:p>
            <a:r>
              <a:rPr lang="en-US" sz="1000" dirty="0" smtClean="0"/>
              <a:t>You </a:t>
            </a:r>
            <a:r>
              <a:rPr lang="en-US" sz="1000" dirty="0"/>
              <a:t>can travel to places and travel around places in different ways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196353"/>
              </p:ext>
            </p:extLst>
          </p:nvPr>
        </p:nvGraphicFramePr>
        <p:xfrm>
          <a:off x="1464142" y="4991050"/>
          <a:ext cx="2608509" cy="230932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43661"/>
                <a:gridCol w="1364848"/>
              </a:tblGrid>
              <a:tr h="236683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Transportation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Examples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32115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car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by car</a:t>
                      </a:r>
                      <a:br>
                        <a:rPr lang="en-US" sz="1000"/>
                      </a:br>
                      <a:r>
                        <a:rPr lang="en-US" sz="1000"/>
                        <a:t>in a car </a:t>
                      </a:r>
                    </a:p>
                  </a:txBody>
                  <a:tcPr anchor="ctr">
                    <a:noFill/>
                  </a:tcPr>
                </a:tc>
              </a:tr>
              <a:tr h="437933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train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by train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a train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take a train </a:t>
                      </a:r>
                    </a:p>
                  </a:txBody>
                  <a:tcPr anchor="ctr">
                    <a:noFill/>
                  </a:tcPr>
                </a:tc>
              </a:tr>
              <a:tr h="905062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bus</a:t>
                      </a:r>
                      <a:br>
                        <a:rPr lang="en-US" sz="1000"/>
                      </a:br>
                      <a:r>
                        <a:rPr lang="en-US" sz="1000"/>
                        <a:t/>
                      </a:r>
                      <a:br>
                        <a:rPr lang="en-US" sz="1000"/>
                      </a:br>
                      <a:r>
                        <a:rPr lang="en-US" sz="1000"/>
                        <a:t/>
                      </a:r>
                      <a:br>
                        <a:rPr lang="en-US" sz="1000"/>
                      </a:br>
                      <a:r>
                        <a:rPr lang="en-US" sz="1000"/>
                        <a:t/>
                      </a:r>
                      <a:br>
                        <a:rPr lang="en-US" sz="1000"/>
                      </a:br>
                      <a:r>
                        <a:rPr lang="en-US" sz="1000"/>
                        <a:t>boat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by bus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a bus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take a bus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/>
                      </a:r>
                      <a:br>
                        <a:rPr lang="en-US" sz="1000" dirty="0"/>
                      </a:br>
                      <a:r>
                        <a:rPr lang="en-US" sz="1000" dirty="0"/>
                        <a:t>by boat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a boat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board a boat </a:t>
                      </a:r>
                    </a:p>
                  </a:txBody>
                  <a:tcPr anchor="ctr">
                    <a:noFill/>
                  </a:tcPr>
                </a:tc>
              </a:tr>
              <a:tr h="32115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taxi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by taxi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in a taxi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7399" y="7401329"/>
            <a:ext cx="50499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They </a:t>
            </a:r>
            <a:r>
              <a:rPr lang="en-US" sz="1000" i="1" dirty="0"/>
              <a:t>prefer to travel by </a:t>
            </a:r>
            <a:r>
              <a:rPr lang="en-US" sz="1000" i="1" dirty="0" smtClean="0"/>
              <a:t>car.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We </a:t>
            </a:r>
            <a:r>
              <a:rPr lang="en-US" sz="1000" i="1" dirty="0"/>
              <a:t>can spend the day on board a boat in the </a:t>
            </a:r>
            <a:r>
              <a:rPr lang="en-US" sz="1000" i="1" dirty="0" smtClean="0"/>
              <a:t>harbor.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Let’s </a:t>
            </a:r>
            <a:r>
              <a:rPr lang="en-US" sz="1000" i="1" dirty="0"/>
              <a:t>take a </a:t>
            </a:r>
            <a:r>
              <a:rPr lang="en-US" sz="1000" i="1" dirty="0" smtClean="0"/>
              <a:t>taxi.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Get </a:t>
            </a:r>
            <a:r>
              <a:rPr lang="en-US" sz="1000" i="1" dirty="0"/>
              <a:t>on the bus</a:t>
            </a:r>
            <a:r>
              <a:rPr lang="en-US" sz="1000" i="1" dirty="0" smtClean="0"/>
              <a:t>!</a:t>
            </a:r>
            <a:endParaRPr lang="en-US" sz="1000" dirty="0"/>
          </a:p>
        </p:txBody>
      </p:sp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74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1933</TotalTime>
  <Words>702</Words>
  <Application>Microsoft Macintosh PowerPoint</Application>
  <PresentationFormat>On-screen Show (4:3)</PresentationFormat>
  <Paragraphs>121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Which Line Goes to City Hall?</vt:lpstr>
      <vt:lpstr>Which Line Goes to City Hall?</vt:lpstr>
      <vt:lpstr>Which Line Goes to City Hall?</vt:lpstr>
      <vt:lpstr>Which Line Goes to City Hall?</vt:lpstr>
      <vt:lpstr>Which Line Goes to City Hall?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Rob ford</cp:lastModifiedBy>
  <cp:revision>161</cp:revision>
  <cp:lastPrinted>2015-07-16T15:48:24Z</cp:lastPrinted>
  <dcterms:created xsi:type="dcterms:W3CDTF">2015-07-06T14:08:02Z</dcterms:created>
  <dcterms:modified xsi:type="dcterms:W3CDTF">2015-09-15T18:57:17Z</dcterms:modified>
</cp:coreProperties>
</file>