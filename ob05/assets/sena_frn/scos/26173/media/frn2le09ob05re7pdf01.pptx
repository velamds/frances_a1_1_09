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8" r:id="rId2"/>
    <p:sldId id="261" r:id="rId3"/>
    <p:sldId id="262" r:id="rId4"/>
    <p:sldId id="259" r:id="rId5"/>
    <p:sldId id="260" r:id="rId6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694" autoAdjust="0"/>
  </p:normalViewPr>
  <p:slideViewPr>
    <p:cSldViewPr snapToGrid="0">
      <p:cViewPr>
        <p:scale>
          <a:sx n="121" d="100"/>
          <a:sy n="121" d="100"/>
        </p:scale>
        <p:origin x="-336" y="1168"/>
      </p:cViewPr>
      <p:guideLst>
        <p:guide orient="horz" pos="256"/>
        <p:guide pos="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8B786-5ACF-3F46-A579-501C4E3B131B}" type="datetimeFigureOut">
              <a:rPr lang="en-US" smtClean="0"/>
              <a:t>15-09-14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6FF-52D5-7E47-AF3B-226A321B9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138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5243F-1C71-48BF-8695-F4FBDA3E52DC}" type="datetimeFigureOut">
              <a:rPr lang="en-IN" smtClean="0"/>
              <a:t>15-09-14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B4869-E2F4-4899-A417-44DCD5B40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696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560788" y="2773069"/>
            <a:ext cx="2461812" cy="351131"/>
            <a:chOff x="387782" y="2609610"/>
            <a:chExt cx="2461812" cy="351131"/>
          </a:xfrm>
        </p:grpSpPr>
        <p:sp>
          <p:nvSpPr>
            <p:cNvPr id="29" name="Shape 152"/>
            <p:cNvSpPr/>
            <p:nvPr/>
          </p:nvSpPr>
          <p:spPr>
            <a:xfrm>
              <a:off x="786698" y="2708377"/>
              <a:ext cx="956091" cy="184666"/>
            </a:xfrm>
            <a:prstGeom prst="rect">
              <a:avLst/>
            </a:prstGeom>
            <a:ln w="1270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685800">
                <a:defRPr sz="16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Shape 160"/>
            <p:cNvSpPr/>
            <p:nvPr/>
          </p:nvSpPr>
          <p:spPr>
            <a:xfrm flipH="1">
              <a:off x="387782" y="2958430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31" name="Imagen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7" y="2609610"/>
              <a:ext cx="326127" cy="326127"/>
            </a:xfrm>
            <a:prstGeom prst="rect">
              <a:avLst/>
            </a:prstGeom>
          </p:spPr>
        </p:pic>
      </p:grpSp>
      <p:sp>
        <p:nvSpPr>
          <p:cNvPr id="33" name="Shape 161"/>
          <p:cNvSpPr/>
          <p:nvPr/>
        </p:nvSpPr>
        <p:spPr>
          <a:xfrm>
            <a:off x="292100" y="730923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CA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Ask your partner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6" name="Shape 136"/>
          <p:cNvSpPr/>
          <p:nvPr/>
        </p:nvSpPr>
        <p:spPr>
          <a:xfrm>
            <a:off x="2616200" y="6384039"/>
            <a:ext cx="26188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indent="228600" algn="l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Can Do Statements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9" name="Shape 161"/>
          <p:cNvSpPr/>
          <p:nvPr/>
        </p:nvSpPr>
        <p:spPr>
          <a:xfrm>
            <a:off x="279400" y="633768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Learning Outcome: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659765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Learning outcome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7556500"/>
            <a:ext cx="2559050" cy="68580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Question</a:t>
            </a:r>
          </a:p>
          <a:p>
            <a:pPr lvl="0"/>
            <a:r>
              <a:rPr lang="en-US" dirty="0" smtClean="0"/>
              <a:t>Question</a:t>
            </a:r>
          </a:p>
          <a:p>
            <a:pPr lvl="0"/>
            <a:endParaRPr lang="en-US" dirty="0" smtClean="0"/>
          </a:p>
        </p:txBody>
      </p:sp>
      <p:sp>
        <p:nvSpPr>
          <p:cNvPr id="69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3244850" y="6597650"/>
            <a:ext cx="3073400" cy="164465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an</a:t>
            </a:r>
          </a:p>
        </p:txBody>
      </p:sp>
      <p:sp>
        <p:nvSpPr>
          <p:cNvPr id="73" name="Text Placeholder 64"/>
          <p:cNvSpPr>
            <a:spLocks noGrp="1"/>
          </p:cNvSpPr>
          <p:nvPr>
            <p:ph type="body" sz="quarter" idx="14"/>
          </p:nvPr>
        </p:nvSpPr>
        <p:spPr>
          <a:xfrm>
            <a:off x="469900" y="32448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6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38735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43450" y="310506"/>
              <a:ext cx="1974900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5" name="Group 84"/>
          <p:cNvGrpSpPr/>
          <p:nvPr userDrawn="1"/>
        </p:nvGrpSpPr>
        <p:grpSpPr>
          <a:xfrm>
            <a:off x="553685" y="1022404"/>
            <a:ext cx="5910615" cy="838957"/>
            <a:chOff x="381329" y="1073204"/>
            <a:chExt cx="5910615" cy="838957"/>
          </a:xfrm>
        </p:grpSpPr>
        <p:sp>
          <p:nvSpPr>
            <p:cNvPr id="87" name="Shape 141"/>
            <p:cNvSpPr/>
            <p:nvPr/>
          </p:nvSpPr>
          <p:spPr>
            <a:xfrm>
              <a:off x="381329" y="1073204"/>
              <a:ext cx="70051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Instructor:</a:t>
              </a:r>
            </a:p>
          </p:txBody>
        </p:sp>
        <p:sp>
          <p:nvSpPr>
            <p:cNvPr id="88" name="Shape 142"/>
            <p:cNvSpPr/>
            <p:nvPr/>
          </p:nvSpPr>
          <p:spPr>
            <a:xfrm>
              <a:off x="384032" y="1420790"/>
              <a:ext cx="5514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Learner:</a:t>
              </a:r>
            </a:p>
          </p:txBody>
        </p:sp>
        <p:sp>
          <p:nvSpPr>
            <p:cNvPr id="89" name="Shape 143"/>
            <p:cNvSpPr/>
            <p:nvPr/>
          </p:nvSpPr>
          <p:spPr>
            <a:xfrm>
              <a:off x="3045468" y="1073800"/>
              <a:ext cx="362279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Date:</a:t>
              </a:r>
            </a:p>
          </p:txBody>
        </p:sp>
        <p:sp>
          <p:nvSpPr>
            <p:cNvPr id="90" name="Shape 144"/>
            <p:cNvSpPr/>
            <p:nvPr/>
          </p:nvSpPr>
          <p:spPr>
            <a:xfrm>
              <a:off x="383990" y="1757260"/>
              <a:ext cx="6043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Program:</a:t>
              </a:r>
            </a:p>
          </p:txBody>
        </p:sp>
        <p:sp>
          <p:nvSpPr>
            <p:cNvPr id="91" name="Shape 145"/>
            <p:cNvSpPr/>
            <p:nvPr/>
          </p:nvSpPr>
          <p:spPr>
            <a:xfrm flipH="1" flipV="1">
              <a:off x="1079500" y="1201922"/>
              <a:ext cx="1892578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2" name="Shape 146"/>
            <p:cNvSpPr/>
            <p:nvPr/>
          </p:nvSpPr>
          <p:spPr>
            <a:xfrm flipH="1" flipV="1">
              <a:off x="952500" y="1547974"/>
              <a:ext cx="2019300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3" name="Shape 147"/>
            <p:cNvSpPr/>
            <p:nvPr/>
          </p:nvSpPr>
          <p:spPr>
            <a:xfrm flipH="1" flipV="1">
              <a:off x="3573288" y="1883086"/>
              <a:ext cx="271865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4" name="Shape 148"/>
            <p:cNvSpPr/>
            <p:nvPr/>
          </p:nvSpPr>
          <p:spPr>
            <a:xfrm flipH="1">
              <a:off x="1010542" y="1875782"/>
              <a:ext cx="1961257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5" name="Shape 149"/>
            <p:cNvSpPr/>
            <p:nvPr/>
          </p:nvSpPr>
          <p:spPr>
            <a:xfrm>
              <a:off x="3020545" y="1425344"/>
              <a:ext cx="110767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r"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Regional Branch:</a:t>
              </a:r>
            </a:p>
          </p:txBody>
        </p:sp>
        <p:sp>
          <p:nvSpPr>
            <p:cNvPr id="96" name="Shape 150"/>
            <p:cNvSpPr/>
            <p:nvPr/>
          </p:nvSpPr>
          <p:spPr>
            <a:xfrm flipH="1">
              <a:off x="3454400" y="1198153"/>
              <a:ext cx="282780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7" name="Shape 151"/>
            <p:cNvSpPr/>
            <p:nvPr/>
          </p:nvSpPr>
          <p:spPr>
            <a:xfrm>
              <a:off x="3028225" y="1758273"/>
              <a:ext cx="48891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pPr lvl="0" algn="r"/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"/>
                </a:rPr>
                <a:t>Center:</a:t>
              </a:r>
            </a:p>
          </p:txBody>
        </p:sp>
        <p:sp>
          <p:nvSpPr>
            <p:cNvPr id="98" name="Shape 162"/>
            <p:cNvSpPr/>
            <p:nvPr/>
          </p:nvSpPr>
          <p:spPr>
            <a:xfrm flipH="1" flipV="1">
              <a:off x="4156590" y="1545196"/>
              <a:ext cx="2135354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/>
            </a:p>
          </p:txBody>
        </p:sp>
      </p:grpSp>
      <p:grpSp>
        <p:nvGrpSpPr>
          <p:cNvPr id="99" name="Group 98"/>
          <p:cNvGrpSpPr/>
          <p:nvPr userDrawn="1"/>
        </p:nvGrpSpPr>
        <p:grpSpPr>
          <a:xfrm>
            <a:off x="554162" y="2137521"/>
            <a:ext cx="4351406" cy="407622"/>
            <a:chOff x="387751" y="2137521"/>
            <a:chExt cx="4351406" cy="407622"/>
          </a:xfrm>
        </p:grpSpPr>
        <p:sp>
          <p:nvSpPr>
            <p:cNvPr id="100" name="Shape 153"/>
            <p:cNvSpPr/>
            <p:nvPr/>
          </p:nvSpPr>
          <p:spPr>
            <a:xfrm>
              <a:off x="393859" y="2137521"/>
              <a:ext cx="1076053" cy="1692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11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</a:t>
              </a:r>
            </a:p>
          </p:txBody>
        </p:sp>
        <p:sp>
          <p:nvSpPr>
            <p:cNvPr id="101" name="Shape 154"/>
            <p:cNvSpPr/>
            <p:nvPr/>
          </p:nvSpPr>
          <p:spPr>
            <a:xfrm>
              <a:off x="387751" y="2406644"/>
              <a:ext cx="914586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2" name="Shape 155"/>
            <p:cNvSpPr/>
            <p:nvPr/>
          </p:nvSpPr>
          <p:spPr>
            <a:xfrm>
              <a:off x="2161245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3" name="Shape 156"/>
            <p:cNvSpPr/>
            <p:nvPr/>
          </p:nvSpPr>
          <p:spPr>
            <a:xfrm>
              <a:off x="1204888" y="2406644"/>
              <a:ext cx="1437549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Explore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4" name="Shape 158"/>
            <p:cNvSpPr/>
            <p:nvPr/>
          </p:nvSpPr>
          <p:spPr>
            <a:xfrm>
              <a:off x="3138956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05" name="Shape 157"/>
          <p:cNvSpPr/>
          <p:nvPr userDrawn="1"/>
        </p:nvSpPr>
        <p:spPr>
          <a:xfrm>
            <a:off x="5482678" y="2407349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P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oint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6" name="Shape 158"/>
          <p:cNvSpPr/>
          <p:nvPr userDrawn="1"/>
        </p:nvSpPr>
        <p:spPr>
          <a:xfrm>
            <a:off x="4513622" y="2406644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Target 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5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54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57" name="TextBox 56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51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Exp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699067" y="316856"/>
              <a:ext cx="2019283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64312" y="1045638"/>
            <a:ext cx="2461812" cy="358806"/>
            <a:chOff x="394132" y="1045638"/>
            <a:chExt cx="2461812" cy="358806"/>
          </a:xfrm>
        </p:grpSpPr>
        <p:sp>
          <p:nvSpPr>
            <p:cNvPr id="16" name="Shape 176"/>
            <p:cNvSpPr/>
            <p:nvPr/>
          </p:nvSpPr>
          <p:spPr>
            <a:xfrm>
              <a:off x="785439" y="1123089"/>
              <a:ext cx="117986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xplore</a:t>
              </a:r>
              <a:r>
                <a:rPr lang="en-CA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Shape 160"/>
            <p:cNvSpPr/>
            <p:nvPr/>
          </p:nvSpPr>
          <p:spPr>
            <a:xfrm flipH="1">
              <a:off x="394132" y="140213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8" name="Imagen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768" y="1045638"/>
              <a:ext cx="327600" cy="327600"/>
            </a:xfrm>
            <a:prstGeom prst="rect">
              <a:avLst/>
            </a:prstGeom>
          </p:spPr>
        </p:pic>
      </p:grpSp>
      <p:sp>
        <p:nvSpPr>
          <p:cNvPr id="21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21844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76250" y="5048250"/>
            <a:ext cx="5842000" cy="3200400"/>
          </a:xfrm>
        </p:spPr>
        <p:txBody>
          <a:bodyPr>
            <a:noAutofit/>
          </a:bodyPr>
          <a:lstStyle>
            <a:lvl1pPr marL="0" indent="0" algn="l" defTabSz="685800" rtl="0">
              <a:lnSpc>
                <a:spcPct val="90000"/>
              </a:lnSpc>
              <a:spcBef>
                <a:spcPts val="100"/>
              </a:spcBef>
              <a:buFont typeface="+mj-lt"/>
              <a:buNone/>
              <a:tabLst>
                <a:tab pos="1079500" algn="l"/>
              </a:tabLst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 </a:t>
            </a:r>
            <a:r>
              <a:rPr lang="en-CA" b="1" i="1" dirty="0" smtClean="0">
                <a:solidFill>
                  <a:schemeClr val="bg1">
                    <a:lumMod val="75000"/>
                  </a:schemeClr>
                </a:solidFill>
                <a:latin typeface="+mn-lt"/>
                <a:cs typeface="Verdana"/>
              </a:rPr>
              <a:t>1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Good morning, Ms. Smith. My name is Bill.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Good morning, Bill. The weather is nice today!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Yes, I love this weather. Summer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Winter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rtl="0">
              <a:spcBef>
                <a:spcPts val="100"/>
              </a:spcBef>
            </a:pPr>
            <a:endParaRPr lang="en-CA" sz="1000" b="1" dirty="0" smtClean="0">
              <a:latin typeface="+mn-lt"/>
              <a:cs typeface="Verdana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2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Good afternoon, Kenji.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Kenji</a:t>
            </a:r>
            <a:r>
              <a:rPr lang="en-CA" sz="1000" dirty="0" smtClean="0">
                <a:latin typeface="+mn-lt"/>
                <a:cs typeface="Verdana"/>
              </a:rPr>
              <a:t>:</a:t>
            </a:r>
            <a:r>
              <a:rPr lang="en-CA" sz="1000" b="1" dirty="0" smtClean="0">
                <a:latin typeface="+mn-lt"/>
                <a:cs typeface="Verdana"/>
              </a:rPr>
              <a:t>	</a:t>
            </a:r>
            <a:r>
              <a:rPr lang="en-CA" sz="1000" dirty="0" smtClean="0">
                <a:latin typeface="+mn-lt"/>
                <a:cs typeface="Verdana"/>
              </a:rPr>
              <a:t>Good afternoon to you too, Angela. I am happy it is Friday!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I am too.</a:t>
            </a: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endParaRPr lang="en-CA" sz="1000" b="0" dirty="0" smtClean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rgbClr val="595959"/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3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Hey, Jenny.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Hi, Dad. It is movie night tonight.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It is pizza night too!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YESSSSSSS!</a:t>
            </a:r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69900" y="46291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55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699067" y="316856"/>
              <a:ext cx="2019283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82600" y="20002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7" name="Group 7"/>
          <p:cNvGrpSpPr/>
          <p:nvPr userDrawn="1"/>
        </p:nvGrpSpPr>
        <p:grpSpPr>
          <a:xfrm>
            <a:off x="565150" y="1043658"/>
            <a:ext cx="2461812" cy="366794"/>
            <a:chOff x="394262" y="1044000"/>
            <a:chExt cx="2461812" cy="366794"/>
          </a:xfrm>
        </p:grpSpPr>
        <p:sp>
          <p:nvSpPr>
            <p:cNvPr id="28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0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grpSp>
        <p:nvGrpSpPr>
          <p:cNvPr id="32" name="Group 7"/>
          <p:cNvGrpSpPr/>
          <p:nvPr userDrawn="1"/>
        </p:nvGrpSpPr>
        <p:grpSpPr>
          <a:xfrm>
            <a:off x="565712" y="4479008"/>
            <a:ext cx="2461812" cy="366794"/>
            <a:chOff x="394262" y="1044000"/>
            <a:chExt cx="2461812" cy="366794"/>
          </a:xfrm>
        </p:grpSpPr>
        <p:sp>
          <p:nvSpPr>
            <p:cNvPr id="33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5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sp>
        <p:nvSpPr>
          <p:cNvPr id="36" name="Text Placeholder 64"/>
          <p:cNvSpPr>
            <a:spLocks noGrp="1"/>
          </p:cNvSpPr>
          <p:nvPr>
            <p:ph type="body" sz="quarter" idx="20" hasCustomPrompt="1"/>
          </p:nvPr>
        </p:nvSpPr>
        <p:spPr>
          <a:xfrm>
            <a:off x="482600" y="54927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37" name="Text Placeholder 64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50482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86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11891" y="316856"/>
              <a:ext cx="2006459" cy="3231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5464094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sp>
        <p:nvSpPr>
          <p:cNvPr id="25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22" hasCustomPrompt="1"/>
          </p:nvPr>
        </p:nvSpPr>
        <p:spPr>
          <a:xfrm>
            <a:off x="469028" y="2000115"/>
            <a:ext cx="5861050" cy="412750"/>
          </a:xfrm>
        </p:spPr>
        <p:txBody>
          <a:bodyPr>
            <a:noAutofit/>
          </a:bodyPr>
          <a:lstStyle>
            <a:lvl1pPr>
              <a:buNone/>
              <a:defRPr sz="10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Instructions:</a:t>
            </a:r>
          </a:p>
        </p:txBody>
      </p:sp>
    </p:spTree>
    <p:extLst>
      <p:ext uri="{BB962C8B-B14F-4D97-AF65-F5344CB8AC3E}">
        <p14:creationId xmlns:p14="http://schemas.microsoft.com/office/powerpoint/2010/main" val="259648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699067" y="316856"/>
              <a:ext cx="2019283" cy="43088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Getting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Lost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59880" y="1044072"/>
            <a:ext cx="2461812" cy="372551"/>
            <a:chOff x="389700" y="3441761"/>
            <a:chExt cx="2461812" cy="372551"/>
          </a:xfrm>
        </p:grpSpPr>
        <p:pic>
          <p:nvPicPr>
            <p:cNvPr id="24" name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3441761"/>
              <a:ext cx="327600" cy="327600"/>
            </a:xfrm>
            <a:prstGeom prst="rect">
              <a:avLst/>
            </a:prstGeom>
          </p:spPr>
        </p:pic>
        <p:sp>
          <p:nvSpPr>
            <p:cNvPr id="25" name="Shape 176"/>
            <p:cNvSpPr/>
            <p:nvPr/>
          </p:nvSpPr>
          <p:spPr>
            <a:xfrm>
              <a:off x="786405" y="3519928"/>
              <a:ext cx="1353661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Learning Points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Shape 160"/>
            <p:cNvSpPr/>
            <p:nvPr/>
          </p:nvSpPr>
          <p:spPr>
            <a:xfrm flipH="1">
              <a:off x="389700" y="3812001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213360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Description</a:t>
            </a:r>
          </a:p>
        </p:txBody>
      </p:sp>
      <p:sp>
        <p:nvSpPr>
          <p:cNvPr id="18" name="Title 14"/>
          <p:cNvSpPr>
            <a:spLocks noGrp="1"/>
          </p:cNvSpPr>
          <p:nvPr>
            <p:ph type="title" hasCustomPrompt="1"/>
          </p:nvPr>
        </p:nvSpPr>
        <p:spPr>
          <a:xfrm>
            <a:off x="1758831" y="234799"/>
            <a:ext cx="2007275" cy="246944"/>
          </a:xfrm>
        </p:spPr>
        <p:txBody>
          <a:bodyPr>
            <a:normAutofit/>
          </a:bodyPr>
          <a:lstStyle>
            <a:lvl1pPr>
              <a:defRPr sz="1200" baseline="0">
                <a:solidFill>
                  <a:srgbClr val="FFFFFF"/>
                </a:solidFill>
              </a:defRPr>
            </a:lvl1pPr>
          </a:lstStyle>
          <a:p>
            <a:r>
              <a:rPr lang="en-CA" dirty="0" smtClean="0"/>
              <a:t>Learning Object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2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8E352-EA88-40AF-8669-23AE5A543F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1" r:id="rId4"/>
    <p:sldLayoutId id="2147483654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Describe places, neighborhoods and countries in communicative situations.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What buildings are interesting in your city?</a:t>
            </a:r>
          </a:p>
          <a:p>
            <a:r>
              <a:rPr lang="en-US" dirty="0"/>
              <a:t>Why do you like them?</a:t>
            </a:r>
          </a:p>
          <a:p>
            <a:r>
              <a:rPr lang="en-US" dirty="0"/>
              <a:t>What are they made of?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 can describe places in the city.</a:t>
            </a:r>
          </a:p>
          <a:p>
            <a:r>
              <a:rPr lang="en-US" dirty="0"/>
              <a:t>I can describe buildings with colors and materials.</a:t>
            </a:r>
          </a:p>
          <a:p>
            <a:r>
              <a:rPr lang="en-US" dirty="0"/>
              <a:t>I can express how far or how near objects are using this, that, these, those.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/>
            <a:r>
              <a:rPr lang="en-US" dirty="0"/>
              <a:t>Look at that building! It’s amazing! Is that wall made of glass?</a:t>
            </a:r>
          </a:p>
        </p:txBody>
      </p:sp>
      <p:pic>
        <p:nvPicPr>
          <p:cNvPr id="8" name="Picture Placeholder 7" descr="DR1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75" r="-20875"/>
          <a:stretch>
            <a:fillRect/>
          </a:stretch>
        </p:blipFill>
        <p:spPr>
          <a:xfrm>
            <a:off x="1625486" y="3873500"/>
            <a:ext cx="3817688" cy="2234744"/>
          </a:xfr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667601" y="263995"/>
            <a:ext cx="2394103" cy="171601"/>
          </a:xfrm>
        </p:spPr>
        <p:txBody>
          <a:bodyPr>
            <a:noAutofit/>
          </a:bodyPr>
          <a:lstStyle/>
          <a:p>
            <a:r>
              <a:rPr lang="en-US" dirty="0" smtClean="0"/>
              <a:t>How Do I Get Back to…?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23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DR2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129" r="-31129"/>
          <a:stretch>
            <a:fillRect/>
          </a:stretch>
        </p:blipFill>
        <p:spPr>
          <a:xfrm>
            <a:off x="1111168" y="2131922"/>
            <a:ext cx="3960035" cy="2318069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b="1" dirty="0" smtClean="0"/>
              <a:t>Sally</a:t>
            </a:r>
            <a:r>
              <a:rPr lang="en-GB" dirty="0" smtClean="0"/>
              <a:t>:          I </a:t>
            </a:r>
            <a:r>
              <a:rPr lang="en-GB" dirty="0"/>
              <a:t>don’t think this is the right way. </a:t>
            </a:r>
          </a:p>
          <a:p>
            <a:r>
              <a:rPr lang="en-GB" b="1" dirty="0" smtClean="0"/>
              <a:t>John</a:t>
            </a:r>
            <a:r>
              <a:rPr lang="en-GB" dirty="0" smtClean="0"/>
              <a:t>:          Why </a:t>
            </a:r>
            <a:r>
              <a:rPr lang="en-GB" dirty="0"/>
              <a:t>do you say that?</a:t>
            </a:r>
          </a:p>
          <a:p>
            <a:r>
              <a:rPr lang="en-GB" b="1" dirty="0" smtClean="0"/>
              <a:t>Sally</a:t>
            </a:r>
            <a:r>
              <a:rPr lang="en-GB" dirty="0" smtClean="0"/>
              <a:t>:          Look </a:t>
            </a:r>
            <a:r>
              <a:rPr lang="en-GB" dirty="0"/>
              <a:t>at that big red building.</a:t>
            </a:r>
          </a:p>
          <a:p>
            <a:r>
              <a:rPr lang="en-GB" b="1" dirty="0" smtClean="0"/>
              <a:t>John</a:t>
            </a:r>
            <a:r>
              <a:rPr lang="en-GB" dirty="0" smtClean="0"/>
              <a:t>:          Which </a:t>
            </a:r>
            <a:r>
              <a:rPr lang="en-GB" dirty="0"/>
              <a:t>one? That brick building?</a:t>
            </a:r>
          </a:p>
          <a:p>
            <a:r>
              <a:rPr lang="en-GB" b="1" dirty="0" smtClean="0"/>
              <a:t>Sally</a:t>
            </a:r>
            <a:r>
              <a:rPr lang="en-GB" dirty="0" smtClean="0"/>
              <a:t>:          Yeah</a:t>
            </a:r>
            <a:r>
              <a:rPr lang="en-GB" dirty="0"/>
              <a:t>… that building is not near the bus station. We should go this way.</a:t>
            </a:r>
          </a:p>
          <a:p>
            <a:r>
              <a:rPr lang="en-GB" b="1" dirty="0" smtClean="0"/>
              <a:t>John</a:t>
            </a:r>
            <a:r>
              <a:rPr lang="en-GB" dirty="0" smtClean="0"/>
              <a:t>:          This </a:t>
            </a:r>
            <a:r>
              <a:rPr lang="en-GB" dirty="0"/>
              <a:t>way? Ok.</a:t>
            </a:r>
          </a:p>
          <a:p>
            <a:r>
              <a:rPr lang="en-GB" b="1" dirty="0" smtClean="0"/>
              <a:t>Sally</a:t>
            </a:r>
            <a:r>
              <a:rPr lang="en-GB" dirty="0" smtClean="0"/>
              <a:t>:          Look </a:t>
            </a:r>
            <a:r>
              <a:rPr lang="en-GB" dirty="0"/>
              <a:t>over there.</a:t>
            </a:r>
          </a:p>
          <a:p>
            <a:r>
              <a:rPr lang="en-GB" b="1" dirty="0" smtClean="0"/>
              <a:t>John</a:t>
            </a:r>
            <a:r>
              <a:rPr lang="en-GB" dirty="0" smtClean="0"/>
              <a:t>:          There’s </a:t>
            </a:r>
            <a:r>
              <a:rPr lang="en-GB" dirty="0"/>
              <a:t>the city hall. I love that huge glass wall!</a:t>
            </a:r>
          </a:p>
          <a:p>
            <a:r>
              <a:rPr lang="en-GB" b="1" dirty="0" smtClean="0"/>
              <a:t>Sally</a:t>
            </a:r>
            <a:r>
              <a:rPr lang="en-GB" dirty="0" smtClean="0"/>
              <a:t>:          That’s </a:t>
            </a:r>
            <a:r>
              <a:rPr lang="en-GB" dirty="0"/>
              <a:t>my </a:t>
            </a:r>
            <a:r>
              <a:rPr lang="en-GB" dirty="0" err="1"/>
              <a:t>favorite</a:t>
            </a:r>
            <a:r>
              <a:rPr lang="en-GB" dirty="0"/>
              <a:t> building here in Boston.</a:t>
            </a:r>
          </a:p>
          <a:p>
            <a:r>
              <a:rPr lang="en-GB" b="1" dirty="0" smtClean="0"/>
              <a:t>John</a:t>
            </a:r>
            <a:r>
              <a:rPr lang="en-GB" dirty="0" smtClean="0"/>
              <a:t>:          It’s </a:t>
            </a:r>
            <a:r>
              <a:rPr lang="en-GB" dirty="0"/>
              <a:t>beautiful, not like those grey towers in Cambridge!</a:t>
            </a:r>
          </a:p>
          <a:p>
            <a:r>
              <a:rPr lang="en-GB" b="1" dirty="0" smtClean="0"/>
              <a:t>Sally</a:t>
            </a:r>
            <a:r>
              <a:rPr lang="en-GB" dirty="0" smtClean="0"/>
              <a:t>:          Are </a:t>
            </a:r>
            <a:r>
              <a:rPr lang="en-GB" dirty="0"/>
              <a:t>we getting close to the art gallery?</a:t>
            </a:r>
          </a:p>
          <a:p>
            <a:r>
              <a:rPr lang="en-GB" b="1" dirty="0" smtClean="0"/>
              <a:t>John</a:t>
            </a:r>
            <a:r>
              <a:rPr lang="en-GB" dirty="0" smtClean="0"/>
              <a:t>:          I </a:t>
            </a:r>
            <a:r>
              <a:rPr lang="en-GB" dirty="0"/>
              <a:t>think so. This building is the bank.</a:t>
            </a:r>
          </a:p>
          <a:p>
            <a:r>
              <a:rPr lang="en-GB" b="1" dirty="0" smtClean="0"/>
              <a:t>Sally</a:t>
            </a:r>
            <a:r>
              <a:rPr lang="en-GB" dirty="0" smtClean="0"/>
              <a:t>:          There’s </a:t>
            </a:r>
            <a:r>
              <a:rPr lang="en-GB" dirty="0"/>
              <a:t>that cool flower shop!</a:t>
            </a:r>
          </a:p>
          <a:p>
            <a:r>
              <a:rPr lang="en-GB" b="1" dirty="0" smtClean="0"/>
              <a:t>John</a:t>
            </a:r>
            <a:r>
              <a:rPr lang="en-GB" dirty="0" smtClean="0"/>
              <a:t>:          Where</a:t>
            </a:r>
            <a:r>
              <a:rPr lang="en-GB" dirty="0"/>
              <a:t>?</a:t>
            </a:r>
          </a:p>
          <a:p>
            <a:r>
              <a:rPr lang="en-GB" b="1" dirty="0" smtClean="0"/>
              <a:t>Sally</a:t>
            </a:r>
            <a:r>
              <a:rPr lang="en-GB" dirty="0" smtClean="0"/>
              <a:t>:          Over </a:t>
            </a:r>
            <a:r>
              <a:rPr lang="en-GB" dirty="0"/>
              <a:t>there. It’s the yellow shop with the </a:t>
            </a:r>
            <a:r>
              <a:rPr lang="en-GB" dirty="0" err="1"/>
              <a:t>colorful</a:t>
            </a:r>
            <a:r>
              <a:rPr lang="en-GB" dirty="0"/>
              <a:t> wood sign.</a:t>
            </a:r>
          </a:p>
          <a:p>
            <a:r>
              <a:rPr lang="en-GB" b="1" dirty="0" smtClean="0"/>
              <a:t>John</a:t>
            </a:r>
            <a:r>
              <a:rPr lang="en-GB" dirty="0" smtClean="0"/>
              <a:t>:          There’s </a:t>
            </a:r>
            <a:r>
              <a:rPr lang="en-GB" dirty="0"/>
              <a:t>the bus station!</a:t>
            </a:r>
          </a:p>
          <a:p>
            <a:r>
              <a:rPr lang="en-GB" b="1" dirty="0" smtClean="0"/>
              <a:t>Sally</a:t>
            </a:r>
            <a:r>
              <a:rPr lang="en-GB" dirty="0" smtClean="0"/>
              <a:t>:          </a:t>
            </a:r>
            <a:r>
              <a:rPr lang="en-GB" dirty="0" err="1" smtClean="0"/>
              <a:t>Yesssss</a:t>
            </a:r>
            <a:r>
              <a:rPr lang="en-GB" dirty="0"/>
              <a:t>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 smtClean="0"/>
              <a:t>Instructions: Read the dialogue aloud. 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b="1" dirty="0"/>
              <a:t>Sally and John think the </a:t>
            </a:r>
            <a:r>
              <a:rPr lang="en-GB" b="1" dirty="0" smtClean="0"/>
              <a:t>buildings* </a:t>
            </a:r>
            <a:r>
              <a:rPr lang="en-GB" b="1" dirty="0"/>
              <a:t>in Boston are beautiful!</a:t>
            </a:r>
          </a:p>
          <a:p>
            <a:endParaRPr lang="en-GB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468135" y="975987"/>
            <a:ext cx="18930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*“Buildings” </a:t>
            </a:r>
            <a:r>
              <a:rPr lang="en-GB" sz="1000" dirty="0"/>
              <a:t>can be houses, towers or office blocks.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/>
          </p:nvPr>
        </p:nvSpPr>
        <p:spPr>
          <a:xfrm>
            <a:off x="1667601" y="263995"/>
            <a:ext cx="2394103" cy="171601"/>
          </a:xfrm>
        </p:spPr>
        <p:txBody>
          <a:bodyPr>
            <a:noAutofit/>
          </a:bodyPr>
          <a:lstStyle/>
          <a:p>
            <a:r>
              <a:rPr lang="en-US" dirty="0" smtClean="0"/>
              <a:t>How Do I Get Back to…?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046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Instructions: Practice reading aloud the sentences. </a:t>
            </a:r>
          </a:p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John and Sally talk about the buildings in Boston!</a:t>
            </a:r>
          </a:p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482600" y="5492749"/>
            <a:ext cx="5848350" cy="528909"/>
          </a:xfrm>
        </p:spPr>
        <p:txBody>
          <a:bodyPr/>
          <a:lstStyle/>
          <a:p>
            <a:pPr marL="0" indent="0"/>
            <a:r>
              <a:rPr lang="en-US" dirty="0"/>
              <a:t>Instructions: </a:t>
            </a:r>
            <a:r>
              <a:rPr lang="en-US" dirty="0" smtClean="0"/>
              <a:t>Read </a:t>
            </a:r>
            <a:r>
              <a:rPr lang="en-US" dirty="0"/>
              <a:t>the </a:t>
            </a:r>
            <a:r>
              <a:rPr lang="en-US" dirty="0" smtClean="0"/>
              <a:t>dialogue again. </a:t>
            </a:r>
            <a:r>
              <a:rPr lang="en-US" dirty="0"/>
              <a:t>Write the missing </a:t>
            </a:r>
            <a:r>
              <a:rPr lang="en-US" dirty="0" smtClean="0"/>
              <a:t>phrases. Use: </a:t>
            </a:r>
            <a:r>
              <a:rPr lang="en-US" b="1" dirty="0" smtClean="0"/>
              <a:t>this way</a:t>
            </a:r>
            <a:r>
              <a:rPr lang="en-US" dirty="0" smtClean="0"/>
              <a:t>, </a:t>
            </a:r>
            <a:r>
              <a:rPr lang="en-US" b="1" dirty="0" smtClean="0"/>
              <a:t>glass wall</a:t>
            </a:r>
            <a:r>
              <a:rPr lang="en-US" dirty="0" smtClean="0"/>
              <a:t>, </a:t>
            </a:r>
            <a:r>
              <a:rPr lang="en-US" b="1" dirty="0" smtClean="0"/>
              <a:t>This</a:t>
            </a:r>
            <a:r>
              <a:rPr lang="en-US" dirty="0" smtClean="0"/>
              <a:t>, </a:t>
            </a:r>
            <a:r>
              <a:rPr lang="en-US" b="1" dirty="0" smtClean="0"/>
              <a:t>the station</a:t>
            </a:r>
            <a:r>
              <a:rPr lang="en-US" dirty="0" smtClean="0"/>
              <a:t>, </a:t>
            </a:r>
            <a:r>
              <a:rPr lang="en-US" b="1" dirty="0" smtClean="0"/>
              <a:t>flower shop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This building here is nice. Oh! Look at that one there!</a:t>
            </a:r>
          </a:p>
          <a:p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667601" y="263995"/>
            <a:ext cx="2394103" cy="171601"/>
          </a:xfrm>
        </p:spPr>
        <p:txBody>
          <a:bodyPr>
            <a:noAutofit/>
          </a:bodyPr>
          <a:lstStyle/>
          <a:p>
            <a:r>
              <a:rPr lang="en-US" dirty="0" smtClean="0"/>
              <a:t>How Do I Get Back to…?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72332" y="2430294"/>
            <a:ext cx="4662594" cy="1233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Look at that big red building.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That building is not near the bus station.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That’s my favorite building here in Boston.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It’s not like those gray towers in Cambridge!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It’s the yellow shop with the colorful wood sign.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500" y="4248835"/>
            <a:ext cx="3429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000" dirty="0"/>
          </a:p>
        </p:txBody>
      </p:sp>
      <p:sp>
        <p:nvSpPr>
          <p:cNvPr id="9" name="Rectangle 8"/>
          <p:cNvSpPr/>
          <p:nvPr/>
        </p:nvSpPr>
        <p:spPr>
          <a:xfrm>
            <a:off x="1714500" y="4110335"/>
            <a:ext cx="3429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000" dirty="0"/>
          </a:p>
        </p:txBody>
      </p:sp>
      <p:sp>
        <p:nvSpPr>
          <p:cNvPr id="10" name="Rectangle 9"/>
          <p:cNvSpPr/>
          <p:nvPr/>
        </p:nvSpPr>
        <p:spPr>
          <a:xfrm>
            <a:off x="1714500" y="4110335"/>
            <a:ext cx="3429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000" dirty="0"/>
          </a:p>
        </p:txBody>
      </p:sp>
      <p:sp>
        <p:nvSpPr>
          <p:cNvPr id="11" name="Rectangle 10"/>
          <p:cNvSpPr/>
          <p:nvPr/>
        </p:nvSpPr>
        <p:spPr>
          <a:xfrm>
            <a:off x="1714500" y="3833336"/>
            <a:ext cx="3429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000" dirty="0"/>
          </a:p>
        </p:txBody>
      </p:sp>
      <p:sp>
        <p:nvSpPr>
          <p:cNvPr id="12" name="Rectangle 11"/>
          <p:cNvSpPr/>
          <p:nvPr/>
        </p:nvSpPr>
        <p:spPr>
          <a:xfrm>
            <a:off x="873512" y="6310960"/>
            <a:ext cx="5005659" cy="1233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I don’t think this is the right way to get back to </a:t>
            </a:r>
            <a:r>
              <a:rPr lang="en-US" sz="1000" dirty="0" smtClean="0"/>
              <a:t>_____________.</a:t>
            </a:r>
            <a:endParaRPr lang="en-US" sz="1000" dirty="0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/>
              <a:t>We </a:t>
            </a:r>
            <a:r>
              <a:rPr lang="en-US" sz="1000" smtClean="0"/>
              <a:t>should go </a:t>
            </a:r>
            <a:r>
              <a:rPr lang="en-US" sz="1000" dirty="0" smtClean="0"/>
              <a:t>______________.</a:t>
            </a:r>
            <a:endParaRPr lang="en-US" sz="1000" dirty="0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I love that huge </a:t>
            </a:r>
            <a:r>
              <a:rPr lang="en-US" sz="1000" dirty="0" smtClean="0"/>
              <a:t>_______________!</a:t>
            </a:r>
            <a:endParaRPr lang="en-US" sz="1000" dirty="0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/>
              <a:t>There’s that cool </a:t>
            </a:r>
            <a:r>
              <a:rPr lang="en-US" sz="1000" dirty="0" smtClean="0"/>
              <a:t>_______________!</a:t>
            </a:r>
            <a:endParaRPr lang="en-US" sz="1000" dirty="0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 smtClean="0"/>
              <a:t>___________building </a:t>
            </a:r>
            <a:r>
              <a:rPr lang="en-US" sz="1000" dirty="0"/>
              <a:t>is the bank.</a:t>
            </a:r>
          </a:p>
        </p:txBody>
      </p:sp>
    </p:spTree>
    <p:extLst>
      <p:ext uri="{BB962C8B-B14F-4D97-AF65-F5344CB8AC3E}">
        <p14:creationId xmlns:p14="http://schemas.microsoft.com/office/powerpoint/2010/main" val="882787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75308" y="5948760"/>
            <a:ext cx="2882900" cy="2987989"/>
          </a:xfrm>
        </p:spPr>
        <p:txBody>
          <a:bodyPr/>
          <a:lstStyle/>
          <a:p>
            <a:r>
              <a:rPr lang="en-US" b="1" dirty="0"/>
              <a:t>to get back to </a:t>
            </a:r>
            <a:r>
              <a:rPr lang="en-US" dirty="0"/>
              <a:t>(verb</a:t>
            </a:r>
            <a:r>
              <a:rPr lang="en-US" dirty="0" smtClean="0"/>
              <a:t>): return </a:t>
            </a:r>
            <a:r>
              <a:rPr lang="en-US" dirty="0"/>
              <a:t>to a place again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How </a:t>
            </a:r>
            <a:r>
              <a:rPr lang="en-US" dirty="0"/>
              <a:t>do we get back to the bus station?</a:t>
            </a:r>
          </a:p>
          <a:p>
            <a:r>
              <a:rPr lang="en-US" b="1" dirty="0" smtClean="0"/>
              <a:t>brick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hard, heavy, rectangular block used to build walls and buildings.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It’s </a:t>
            </a:r>
            <a:r>
              <a:rPr lang="en-US" dirty="0"/>
              <a:t>a beautiful old red brick house.</a:t>
            </a:r>
          </a:p>
          <a:p>
            <a:r>
              <a:rPr lang="en-US" b="1" dirty="0" smtClean="0"/>
              <a:t>wall </a:t>
            </a:r>
            <a:r>
              <a:rPr lang="en-US" dirty="0"/>
              <a:t>(noun</a:t>
            </a:r>
            <a:r>
              <a:rPr lang="en-US" dirty="0" smtClean="0"/>
              <a:t>): the </a:t>
            </a:r>
            <a:r>
              <a:rPr lang="en-US" dirty="0"/>
              <a:t>vertical structure that is part of a room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She </a:t>
            </a:r>
            <a:r>
              <a:rPr lang="en-US" dirty="0"/>
              <a:t>likes to paint the walls in her bedroom a light color.</a:t>
            </a:r>
          </a:p>
          <a:p>
            <a:r>
              <a:rPr lang="en-US" b="1" dirty="0" smtClean="0"/>
              <a:t>this </a:t>
            </a:r>
            <a:r>
              <a:rPr lang="en-US" b="1" dirty="0"/>
              <a:t>way </a:t>
            </a:r>
            <a:r>
              <a:rPr lang="en-US" dirty="0"/>
              <a:t>(expression</a:t>
            </a:r>
            <a:r>
              <a:rPr lang="en-US" dirty="0" smtClean="0"/>
              <a:t>): this </a:t>
            </a:r>
            <a:r>
              <a:rPr lang="en-US" dirty="0"/>
              <a:t>direction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We </a:t>
            </a:r>
            <a:r>
              <a:rPr lang="en-US" dirty="0"/>
              <a:t>have to go this way for the bus station.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512492" y="5948761"/>
            <a:ext cx="2978150" cy="2470598"/>
          </a:xfrm>
        </p:spPr>
        <p:txBody>
          <a:bodyPr/>
          <a:lstStyle/>
          <a:p>
            <a:r>
              <a:rPr lang="en-US" b="1" dirty="0"/>
              <a:t>tower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very tall building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office tower is all glass and metal.</a:t>
            </a:r>
          </a:p>
          <a:p>
            <a:r>
              <a:rPr lang="en-US" b="1" dirty="0" smtClean="0"/>
              <a:t>close </a:t>
            </a:r>
            <a:r>
              <a:rPr lang="en-US" dirty="0"/>
              <a:t>(adjective</a:t>
            </a:r>
            <a:r>
              <a:rPr lang="en-US" dirty="0" smtClean="0"/>
              <a:t>): near </a:t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station is close to the mall.</a:t>
            </a:r>
          </a:p>
          <a:p>
            <a:r>
              <a:rPr lang="en-US" b="1" dirty="0" smtClean="0"/>
              <a:t>colorful</a:t>
            </a:r>
            <a:r>
              <a:rPr lang="en-US" dirty="0" smtClean="0"/>
              <a:t> </a:t>
            </a:r>
            <a:r>
              <a:rPr lang="en-US" dirty="0"/>
              <a:t>(adjective</a:t>
            </a:r>
            <a:r>
              <a:rPr lang="en-US" dirty="0" smtClean="0"/>
              <a:t>): with </a:t>
            </a:r>
            <a:r>
              <a:rPr lang="en-US" dirty="0"/>
              <a:t>lots of color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e.g. It’s </a:t>
            </a:r>
            <a:r>
              <a:rPr lang="en-US" dirty="0"/>
              <a:t>a colorful sign with red, orange and yellow letters.</a:t>
            </a:r>
          </a:p>
          <a:p>
            <a:r>
              <a:rPr lang="en-US" b="1" dirty="0" smtClean="0"/>
              <a:t>cement </a:t>
            </a:r>
            <a:r>
              <a:rPr lang="en-US" dirty="0"/>
              <a:t>(noun</a:t>
            </a:r>
            <a:r>
              <a:rPr lang="en-US" dirty="0" smtClean="0"/>
              <a:t>): a </a:t>
            </a:r>
            <a:r>
              <a:rPr lang="en-US" dirty="0"/>
              <a:t>material for building that is mixed with water and dries </a:t>
            </a:r>
            <a:r>
              <a:rPr lang="en-US" dirty="0" smtClean="0"/>
              <a:t>hard</a:t>
            </a:r>
            <a:br>
              <a:rPr lang="en-US" dirty="0" smtClean="0"/>
            </a:br>
            <a:r>
              <a:rPr lang="en-US" dirty="0" smtClean="0"/>
              <a:t>e.g. The </a:t>
            </a:r>
            <a:r>
              <a:rPr lang="en-US" dirty="0"/>
              <a:t>cement on the sidewalk is not hard yet.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69900" y="2332569"/>
            <a:ext cx="2882900" cy="1089264"/>
          </a:xfrm>
        </p:spPr>
        <p:txBody>
          <a:bodyPr/>
          <a:lstStyle/>
          <a:p>
            <a:r>
              <a:rPr lang="en-US" dirty="0"/>
              <a:t>Fill in the chart.</a:t>
            </a:r>
          </a:p>
          <a:p>
            <a:r>
              <a:rPr lang="en-US" dirty="0"/>
              <a:t>Write the names of the buildings - or what you call them.</a:t>
            </a:r>
          </a:p>
          <a:p>
            <a:r>
              <a:rPr lang="en-US" dirty="0"/>
              <a:t>Write the colors and materials.</a:t>
            </a:r>
          </a:p>
          <a:p>
            <a:r>
              <a:rPr lang="en-US" dirty="0"/>
              <a:t>Write a sentence about 2 of the buildings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Let’s talk about buildings where you live. Make a list of the buildings </a:t>
            </a:r>
          </a:p>
          <a:p>
            <a:r>
              <a:rPr lang="en-US" dirty="0"/>
              <a:t>you like or see every day. Complete the following steps. Fill in the Self </a:t>
            </a:r>
          </a:p>
          <a:p>
            <a:r>
              <a:rPr lang="en-US"/>
              <a:t>Assessment</a:t>
            </a:r>
            <a:r>
              <a:rPr lang="en-US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8" name="Shape 193"/>
          <p:cNvSpPr/>
          <p:nvPr/>
        </p:nvSpPr>
        <p:spPr>
          <a:xfrm>
            <a:off x="2644090" y="3593994"/>
            <a:ext cx="281400" cy="28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000" b="1" dirty="0" smtClean="0">
                <a:solidFill>
                  <a:srgbClr val="FFFFFF"/>
                </a:solidFill>
              </a:rPr>
              <a:t>Y</a:t>
            </a:r>
            <a:r>
              <a:rPr lang="en-US" sz="1000" b="1" dirty="0" smtClean="0">
                <a:solidFill>
                  <a:srgbClr val="FFFFFF"/>
                </a:solidFill>
              </a:rPr>
              <a:t>es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9" name="Shape 194"/>
          <p:cNvSpPr/>
          <p:nvPr/>
        </p:nvSpPr>
        <p:spPr>
          <a:xfrm>
            <a:off x="3065960" y="3600479"/>
            <a:ext cx="281400" cy="28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000" b="1" dirty="0" smtClean="0">
                <a:solidFill>
                  <a:srgbClr val="FFFFFF"/>
                </a:solidFill>
              </a:rPr>
              <a:t>N</a:t>
            </a:r>
            <a:r>
              <a:rPr lang="en-US" sz="1000" b="1" dirty="0" smtClean="0">
                <a:solidFill>
                  <a:srgbClr val="FFFFFF"/>
                </a:solidFill>
              </a:rPr>
              <a:t>o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10" name="Shape 200"/>
          <p:cNvSpPr/>
          <p:nvPr/>
        </p:nvSpPr>
        <p:spPr>
          <a:xfrm>
            <a:off x="2653739" y="3992466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Shape 201"/>
          <p:cNvSpPr/>
          <p:nvPr/>
        </p:nvSpPr>
        <p:spPr>
          <a:xfrm>
            <a:off x="3072323" y="3990490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Shape 202"/>
          <p:cNvSpPr/>
          <p:nvPr/>
        </p:nvSpPr>
        <p:spPr>
          <a:xfrm>
            <a:off x="2650455" y="4334919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 203"/>
          <p:cNvSpPr/>
          <p:nvPr/>
        </p:nvSpPr>
        <p:spPr>
          <a:xfrm>
            <a:off x="3070924" y="4333341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Shape 204"/>
          <p:cNvSpPr/>
          <p:nvPr/>
        </p:nvSpPr>
        <p:spPr>
          <a:xfrm>
            <a:off x="2651486" y="4675853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Shape 205"/>
          <p:cNvSpPr/>
          <p:nvPr/>
        </p:nvSpPr>
        <p:spPr>
          <a:xfrm>
            <a:off x="3070925" y="4674312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" name="Shape 204"/>
          <p:cNvSpPr/>
          <p:nvPr/>
        </p:nvSpPr>
        <p:spPr>
          <a:xfrm>
            <a:off x="2657913" y="5018030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" name="Shape 205"/>
          <p:cNvSpPr/>
          <p:nvPr/>
        </p:nvSpPr>
        <p:spPr>
          <a:xfrm>
            <a:off x="3077352" y="5016489"/>
            <a:ext cx="269814" cy="2705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 algn="ctr">
              <a:defRPr sz="1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40331" y="385691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9" name="Shape 225"/>
          <p:cNvSpPr/>
          <p:nvPr/>
        </p:nvSpPr>
        <p:spPr>
          <a:xfrm>
            <a:off x="712800" y="3600695"/>
            <a:ext cx="1777898" cy="1715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685800">
              <a:buSzPct val="100000"/>
            </a:pPr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rPr>
              <a:t>Self </a:t>
            </a:r>
            <a:r>
              <a:rPr 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rPr>
              <a:t>Assessment</a:t>
            </a:r>
          </a:p>
          <a:p>
            <a:pPr lvl="0" defTabSz="685800">
              <a:spcBef>
                <a:spcPts val="1500"/>
              </a:spcBef>
              <a:buSzPct val="100000"/>
            </a:pPr>
            <a:r>
              <a:rPr lang="en-US" sz="1000" dirty="0"/>
              <a:t>I use </a:t>
            </a:r>
            <a:r>
              <a:rPr lang="en-US" sz="1000" dirty="0" smtClean="0"/>
              <a:t>color </a:t>
            </a:r>
            <a:r>
              <a:rPr lang="en-US" sz="1000" dirty="0"/>
              <a:t>and </a:t>
            </a:r>
            <a:r>
              <a:rPr lang="en-US" sz="1000" dirty="0" smtClean="0"/>
              <a:t>material to describe places.</a:t>
            </a:r>
            <a:endParaRPr lang="en-CA" sz="1000" dirty="0" smtClean="0">
              <a:ea typeface="Myriad Pro"/>
              <a:cs typeface="Verdana"/>
              <a:sym typeface="Myriad Pro"/>
            </a:endParaRPr>
          </a:p>
          <a:p>
            <a:pPr lvl="0" defTabSz="685800">
              <a:spcBef>
                <a:spcPts val="1500"/>
              </a:spcBef>
              <a:buSzPct val="100000"/>
            </a:pPr>
            <a:r>
              <a:rPr lang="en-CA" sz="1000" dirty="0"/>
              <a:t>I use street names.</a:t>
            </a:r>
            <a:endParaRPr lang="en-CA" sz="1000" dirty="0" smtClean="0">
              <a:sym typeface="Myriad Pro"/>
            </a:endParaRPr>
          </a:p>
          <a:p>
            <a:pPr lvl="0" defTabSz="685800">
              <a:lnSpc>
                <a:spcPct val="60000"/>
              </a:lnSpc>
              <a:spcBef>
                <a:spcPts val="1500"/>
              </a:spcBef>
              <a:buSzPct val="100000"/>
            </a:pPr>
            <a:r>
              <a:rPr lang="en-CA" sz="1000" dirty="0"/>
              <a:t>I complete the chart.</a:t>
            </a:r>
            <a:endParaRPr lang="en-CA" sz="1000" dirty="0" smtClean="0">
              <a:ea typeface="Myriad Pro"/>
              <a:cs typeface="Verdana"/>
              <a:sym typeface="Myriad Pro"/>
            </a:endParaRPr>
          </a:p>
          <a:p>
            <a:pPr defTabSz="685800">
              <a:lnSpc>
                <a:spcPct val="70000"/>
              </a:lnSpc>
              <a:spcBef>
                <a:spcPts val="1500"/>
              </a:spcBef>
              <a:buSzPct val="100000"/>
            </a:pPr>
            <a:r>
              <a:rPr lang="en-CA" sz="1000" dirty="0"/>
              <a:t>I write 2 </a:t>
            </a:r>
            <a:r>
              <a:rPr lang="en-CA" sz="1000" dirty="0" smtClean="0"/>
              <a:t>sentences about buildings.</a:t>
            </a:r>
            <a:endParaRPr lang="en-CA" sz="1000" dirty="0"/>
          </a:p>
        </p:txBody>
      </p:sp>
      <p:sp>
        <p:nvSpPr>
          <p:cNvPr id="20" name="Rounded Rectangle 6"/>
          <p:cNvSpPr/>
          <p:nvPr/>
        </p:nvSpPr>
        <p:spPr>
          <a:xfrm>
            <a:off x="514317" y="3442447"/>
            <a:ext cx="3327318" cy="1920634"/>
          </a:xfrm>
          <a:prstGeom prst="roundRect">
            <a:avLst>
              <a:gd name="adj" fmla="val 11375"/>
            </a:avLst>
          </a:prstGeom>
          <a:noFill/>
          <a:ln w="12700" cap="flat">
            <a:solidFill>
              <a:schemeClr val="tx1">
                <a:lumMod val="50000"/>
                <a:lumOff val="50000"/>
              </a:schemeClr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503074"/>
              </p:ext>
            </p:extLst>
          </p:nvPr>
        </p:nvGraphicFramePr>
        <p:xfrm>
          <a:off x="4062055" y="2354242"/>
          <a:ext cx="2604873" cy="22028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9655"/>
                <a:gridCol w="564053"/>
                <a:gridCol w="1131165"/>
              </a:tblGrid>
              <a:tr h="344044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Building Name</a:t>
                      </a:r>
                      <a:endParaRPr lang="en-US" sz="1000">
                        <a:effectLst/>
                      </a:endParaRPr>
                    </a:p>
                  </a:txBody>
                  <a:tcPr marL="88900" marR="88900" marT="88900" marB="8890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Color</a:t>
                      </a:r>
                      <a:endParaRPr lang="en-US" sz="1000" dirty="0">
                        <a:effectLst/>
                      </a:endParaRPr>
                    </a:p>
                  </a:txBody>
                  <a:tcPr marL="88900" marR="88900" marT="88900" marB="8890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Materials</a:t>
                      </a:r>
                      <a:endParaRPr lang="en-US" sz="1000" dirty="0">
                        <a:effectLst/>
                      </a:endParaRPr>
                    </a:p>
                  </a:txBody>
                  <a:tcPr marL="88900" marR="88900" marT="88900" marB="88900"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44044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  <a:tr h="344044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</a:tr>
              <a:tr h="344044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</a:tr>
              <a:tr h="344044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  <a:tr h="344044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itle 6"/>
          <p:cNvSpPr>
            <a:spLocks noGrp="1"/>
          </p:cNvSpPr>
          <p:nvPr>
            <p:ph type="title"/>
          </p:nvPr>
        </p:nvSpPr>
        <p:spPr>
          <a:xfrm>
            <a:off x="1667601" y="263995"/>
            <a:ext cx="2394103" cy="171601"/>
          </a:xfrm>
        </p:spPr>
        <p:txBody>
          <a:bodyPr>
            <a:noAutofit/>
          </a:bodyPr>
          <a:lstStyle/>
          <a:p>
            <a:r>
              <a:rPr lang="en-US" dirty="0" smtClean="0"/>
              <a:t>How Do I Get Back to…?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811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469900" y="1555750"/>
            <a:ext cx="5226050" cy="276335"/>
          </a:xfrm>
        </p:spPr>
        <p:txBody>
          <a:bodyPr/>
          <a:lstStyle/>
          <a:p>
            <a:r>
              <a:rPr lang="en-US" b="1" dirty="0"/>
              <a:t>Colors and Materials in </a:t>
            </a:r>
            <a:r>
              <a:rPr lang="en-US" b="1" dirty="0" smtClean="0"/>
              <a:t>Buildings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69900" y="1863532"/>
            <a:ext cx="4027394" cy="406501"/>
          </a:xfrm>
        </p:spPr>
        <p:txBody>
          <a:bodyPr/>
          <a:lstStyle/>
          <a:p>
            <a:r>
              <a:rPr lang="en-US" dirty="0"/>
              <a:t>Here are some colors and materials used to make buildings.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674209"/>
              </p:ext>
            </p:extLst>
          </p:nvPr>
        </p:nvGraphicFramePr>
        <p:xfrm>
          <a:off x="4885765" y="2196355"/>
          <a:ext cx="1653833" cy="16933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017"/>
                <a:gridCol w="841816"/>
              </a:tblGrid>
              <a:tr h="415357">
                <a:tc>
                  <a:txBody>
                    <a:bodyPr/>
                    <a:lstStyle/>
                    <a:p>
                      <a:r>
                        <a:rPr lang="en-US" sz="1000" b="1" dirty="0"/>
                        <a:t>Colors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Materials </a:t>
                      </a:r>
                    </a:p>
                  </a:txBody>
                  <a:tcPr anchor="ctr">
                    <a:solidFill>
                      <a:srgbClr val="A6A6A6"/>
                    </a:solidFill>
                  </a:tcPr>
                </a:tc>
              </a:tr>
              <a:tr h="255604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red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glass</a:t>
                      </a:r>
                      <a:endParaRPr lang="en-US" sz="1000" dirty="0"/>
                    </a:p>
                  </a:txBody>
                  <a:tcPr/>
                </a:tc>
              </a:tr>
              <a:tr h="255604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grey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metal</a:t>
                      </a:r>
                      <a:endParaRPr lang="en-US" sz="1000" dirty="0"/>
                    </a:p>
                  </a:txBody>
                  <a:tcPr/>
                </a:tc>
              </a:tr>
              <a:tr h="255604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blue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steel</a:t>
                      </a:r>
                      <a:endParaRPr lang="en-US" sz="1000" dirty="0"/>
                    </a:p>
                  </a:txBody>
                  <a:tcPr/>
                </a:tc>
              </a:tr>
              <a:tr h="255604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brown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wood</a:t>
                      </a:r>
                      <a:endParaRPr lang="en-US" sz="1000" dirty="0"/>
                    </a:p>
                  </a:txBody>
                  <a:tcPr/>
                </a:tc>
              </a:tr>
              <a:tr h="255604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yellow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cement</a:t>
                      </a:r>
                      <a:endParaRPr lang="en-US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9131" y="2229184"/>
            <a:ext cx="427039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/>
              <a:t>When </a:t>
            </a:r>
            <a:r>
              <a:rPr lang="en-US" sz="1000" dirty="0"/>
              <a:t>you use a color and a material to talk about a building, you say the color first.</a:t>
            </a:r>
          </a:p>
          <a:p>
            <a:r>
              <a:rPr lang="en-US" sz="1000" dirty="0"/>
              <a:t>A blue glass wall.</a:t>
            </a:r>
          </a:p>
          <a:p>
            <a:r>
              <a:rPr lang="en-US" sz="1000" dirty="0"/>
              <a:t>c</a:t>
            </a:r>
            <a:r>
              <a:rPr lang="en-US" sz="1000" dirty="0" smtClean="0"/>
              <a:t>olor + material</a:t>
            </a:r>
            <a:endParaRPr lang="en-US" sz="1000" dirty="0"/>
          </a:p>
          <a:p>
            <a:endParaRPr lang="en-US" sz="1000" dirty="0"/>
          </a:p>
          <a:p>
            <a:r>
              <a:rPr lang="en-US" sz="1000" b="1" dirty="0" smtClean="0"/>
              <a:t>Examples</a:t>
            </a:r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It’s </a:t>
            </a:r>
            <a:r>
              <a:rPr lang="en-US" sz="1000" i="1" dirty="0"/>
              <a:t>a red brick </a:t>
            </a:r>
            <a:r>
              <a:rPr lang="en-US" sz="1000" i="1" dirty="0" smtClean="0"/>
              <a:t>house.</a:t>
            </a:r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I </a:t>
            </a:r>
            <a:r>
              <a:rPr lang="en-US" sz="1000" i="1" dirty="0"/>
              <a:t>don’t like that </a:t>
            </a:r>
            <a:r>
              <a:rPr lang="en-US" sz="1000" i="1" dirty="0" smtClean="0"/>
              <a:t>grey </a:t>
            </a:r>
            <a:r>
              <a:rPr lang="en-US" sz="1000" i="1" dirty="0"/>
              <a:t>steel tower</a:t>
            </a:r>
            <a:r>
              <a:rPr lang="en-US" sz="1000" i="1" dirty="0" smtClean="0"/>
              <a:t>!</a:t>
            </a:r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Look </a:t>
            </a:r>
            <a:r>
              <a:rPr lang="en-US" sz="1000" i="1" dirty="0"/>
              <a:t>at that beautiful blue glass wall!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130" y="4054890"/>
            <a:ext cx="608046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/>
              <a:t>Demonstrative </a:t>
            </a:r>
            <a:r>
              <a:rPr lang="en-US" sz="1000" b="1" dirty="0"/>
              <a:t>Adjectives This and That</a:t>
            </a:r>
          </a:p>
          <a:p>
            <a:endParaRPr lang="en-US" sz="1000" dirty="0"/>
          </a:p>
          <a:p>
            <a:r>
              <a:rPr lang="en-US" sz="1000" dirty="0"/>
              <a:t>A demonstrative adjective points out the noun it talks about. It goes before the noun</a:t>
            </a:r>
            <a:r>
              <a:rPr lang="en-US" sz="1000" dirty="0" smtClean="0"/>
              <a:t>.</a:t>
            </a:r>
          </a:p>
          <a:p>
            <a:endParaRPr lang="en-US" sz="1000" dirty="0"/>
          </a:p>
          <a:p>
            <a:r>
              <a:rPr lang="en-US" sz="1000" b="1" dirty="0"/>
              <a:t>that</a:t>
            </a:r>
            <a:r>
              <a:rPr lang="en-US" sz="1000" dirty="0"/>
              <a:t> book         </a:t>
            </a:r>
            <a:r>
              <a:rPr lang="en-US" sz="1000" b="1" dirty="0"/>
              <a:t>this</a:t>
            </a:r>
            <a:r>
              <a:rPr lang="en-US" sz="1000" dirty="0"/>
              <a:t> </a:t>
            </a:r>
            <a:r>
              <a:rPr lang="en-US" sz="1000" dirty="0" smtClean="0"/>
              <a:t>car</a:t>
            </a:r>
          </a:p>
          <a:p>
            <a:endParaRPr lang="en-US" sz="1000" dirty="0"/>
          </a:p>
          <a:p>
            <a:r>
              <a:rPr lang="en-US" sz="1000" dirty="0"/>
              <a:t>You use </a:t>
            </a:r>
            <a:r>
              <a:rPr lang="en-US" sz="1000" b="1" dirty="0"/>
              <a:t>this</a:t>
            </a:r>
            <a:r>
              <a:rPr lang="en-US" sz="1000" dirty="0"/>
              <a:t> for something that is near.</a:t>
            </a:r>
          </a:p>
          <a:p>
            <a:r>
              <a:rPr lang="en-US" sz="1000" dirty="0"/>
              <a:t>You us </a:t>
            </a:r>
            <a:r>
              <a:rPr lang="en-US" sz="1000" b="1" dirty="0"/>
              <a:t>that</a:t>
            </a:r>
            <a:r>
              <a:rPr lang="en-US" sz="1000" dirty="0"/>
              <a:t> for something that is far.</a:t>
            </a:r>
          </a:p>
          <a:p>
            <a:endParaRPr lang="en-US" sz="1000" dirty="0"/>
          </a:p>
          <a:p>
            <a:r>
              <a:rPr lang="en-US" sz="1000" b="1" dirty="0" smtClean="0"/>
              <a:t>Examples</a:t>
            </a:r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This </a:t>
            </a:r>
            <a:r>
              <a:rPr lang="en-US" sz="1000" i="1" dirty="0"/>
              <a:t>street is not the right </a:t>
            </a:r>
            <a:r>
              <a:rPr lang="en-US" sz="1000" i="1" dirty="0" smtClean="0"/>
              <a:t>one.</a:t>
            </a:r>
          </a:p>
          <a:p>
            <a:pPr marL="171450" indent="-171450">
              <a:buFont typeface="Arial"/>
              <a:buChar char="•"/>
            </a:pPr>
            <a:r>
              <a:rPr lang="en-US" sz="1000" i="1" dirty="0" smtClean="0"/>
              <a:t>That </a:t>
            </a:r>
            <a:r>
              <a:rPr lang="en-US" sz="1000" i="1" dirty="0"/>
              <a:t>building over there is the city hall.</a:t>
            </a:r>
          </a:p>
        </p:txBody>
      </p:sp>
      <p:sp>
        <p:nvSpPr>
          <p:cNvPr id="9" name="Title 6"/>
          <p:cNvSpPr>
            <a:spLocks noGrp="1"/>
          </p:cNvSpPr>
          <p:nvPr>
            <p:ph type="title"/>
          </p:nvPr>
        </p:nvSpPr>
        <p:spPr>
          <a:xfrm>
            <a:off x="1667601" y="263995"/>
            <a:ext cx="2394103" cy="171601"/>
          </a:xfrm>
        </p:spPr>
        <p:txBody>
          <a:bodyPr>
            <a:noAutofit/>
          </a:bodyPr>
          <a:lstStyle/>
          <a:p>
            <a:r>
              <a:rPr lang="en-US" dirty="0" smtClean="0"/>
              <a:t>How Do I Get Back to…?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351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val="1"/>
          </a:ext>
        </a:extLst>
      </a:spPr>
      <a:bodyPr wrap="square" lIns="0" tIns="0" rIns="0" bIns="0">
        <a:spAutoFit/>
      </a:bodyPr>
      <a:lstStyle>
        <a:defPPr marL="110289" indent="-110289" defTabSz="685800">
          <a:spcAft>
            <a:spcPts val="200"/>
          </a:spcAft>
          <a:buSzPct val="100000"/>
          <a:buChar char="•"/>
          <a:defRPr sz="1000" b="1" dirty="0" smtClean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  <a:sym typeface="Myriad Pro Semibold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2410</TotalTime>
  <Words>725</Words>
  <Application>Microsoft Macintosh PowerPoint</Application>
  <PresentationFormat>On-screen Show (4:3)</PresentationFormat>
  <Paragraphs>107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How Do I Get Back to…?</vt:lpstr>
      <vt:lpstr>How Do I Get Back to…?</vt:lpstr>
      <vt:lpstr>How Do I Get Back to…?</vt:lpstr>
      <vt:lpstr>How Do I Get Back to…?</vt:lpstr>
      <vt:lpstr>How Do I Get Back to…?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Aamir</dc:creator>
  <cp:lastModifiedBy>Rob ford</cp:lastModifiedBy>
  <cp:revision>149</cp:revision>
  <cp:lastPrinted>2015-07-16T15:48:24Z</cp:lastPrinted>
  <dcterms:created xsi:type="dcterms:W3CDTF">2015-07-06T14:08:02Z</dcterms:created>
  <dcterms:modified xsi:type="dcterms:W3CDTF">2015-09-14T21:42:17Z</dcterms:modified>
</cp:coreProperties>
</file>